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02C8A4-B712-484D-93ED-8A43196F76B0}"/>
              </a:ext>
            </a:extLst>
          </p:cNvPr>
          <p:cNvSpPr>
            <a:spLocks noGrp="1"/>
          </p:cNvSpPr>
          <p:nvPr/>
        </p:nvSpPr>
        <p:spPr>
          <a:xfrm>
            <a:off x="9052560" y="3108960"/>
            <a:ext cx="4206240" cy="420624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F89A3B2-F312-4B88-87FE-1ECE5DC4213B}"/>
              </a:ext>
            </a:extLst>
          </p:cNvPr>
          <p:cNvSpPr>
            <a:spLocks noGrp="1"/>
          </p:cNvSpPr>
          <p:nvPr/>
        </p:nvSpPr>
        <p:spPr>
          <a:xfrm>
            <a:off x="10424160" y="2011680"/>
            <a:ext cx="2377440" cy="237744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B223AC-27AC-4558-9A9E-6DBB58A165CF}"/>
              </a:ext>
            </a:extLst>
          </p:cNvPr>
          <p:cNvSpPr>
            <a:spLocks noGrp="1"/>
          </p:cNvSpPr>
          <p:nvPr/>
        </p:nvSpPr>
        <p:spPr>
          <a:xfrm>
            <a:off x="8412480" y="5394960"/>
            <a:ext cx="1371600" cy="137160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E80399-054A-464B-AA94-67B5BF775E0E}"/>
              </a:ext>
            </a:extLst>
          </p:cNvPr>
          <p:cNvSpPr>
            <a:spLocks noGrp="1"/>
          </p:cNvSpPr>
          <p:nvPr/>
        </p:nvSpPr>
        <p:spPr>
          <a:xfrm>
            <a:off x="10104120" y="4160520"/>
            <a:ext cx="1371600" cy="1371600"/>
          </a:xfrm>
          <a:prstGeom prst="ellipse">
            <a:avLst/>
          </a:prstGeom>
          <a:solidFill>
            <a:srgbClr val="0E2841"/>
          </a:solidFill>
        </p:spPr>
        <p:txBody>
          <a:bodyPr/>
          <a:lstStyle/>
          <a:p>
            <a:endParaRPr/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452" y="4530852"/>
            <a:ext cx="630936" cy="630936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3F92AB2-F42C-459D-9873-275AE7E4A6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9ED5"/>
          </a:solidFill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8828E9B-8BDD-4976-82B0-6CA37A38D4A1}"/>
              </a:ext>
            </a:extLst>
          </p:cNvPr>
          <p:cNvSpPr>
            <a:spLocks noGrp="1"/>
          </p:cNvSpPr>
          <p:nvPr/>
        </p:nvSpPr>
        <p:spPr>
          <a:xfrm>
            <a:off x="777240" y="169164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ĐỀ BÀI HACKATHON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AAEA742-49EB-45A8-8725-92BB3675FA53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7863840" cy="1920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34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Trợ lý AI so sánh &amp; tư vấn sản phẩm theo nhu cầu thật của khách hàng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EF999D7-0327-44B8-AF17-1E8E21B8AFDD}"/>
              </a:ext>
            </a:extLst>
          </p:cNvPr>
          <p:cNvSpPr>
            <a:spLocks noGrp="1"/>
          </p:cNvSpPr>
          <p:nvPr/>
        </p:nvSpPr>
        <p:spPr>
          <a:xfrm>
            <a:off x="777240" y="42062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60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Hiểu khách nói gì — hỏi khi chưa rõ — trả lời bình dị, ai cũng hiểu — tư vấn có căn cứ, không bịa thông tin.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3810693-0088-4402-A129-C4CE7987F546}"/>
              </a:ext>
            </a:extLst>
          </p:cNvPr>
          <p:cNvSpPr>
            <a:spLocks noGrp="1"/>
          </p:cNvSpPr>
          <p:nvPr/>
        </p:nvSpPr>
        <p:spPr>
          <a:xfrm>
            <a:off x="822960" y="5120640"/>
            <a:ext cx="0" cy="502920"/>
          </a:xfrm>
          <a:prstGeom prst="line">
            <a:avLst/>
          </a:prstGeom>
          <a:noFill/>
          <a:ln w="31750">
            <a:solidFill>
              <a:srgbClr val="0F9E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C8DA77E-265F-4171-BA5A-AF632DFAC969}"/>
              </a:ext>
            </a:extLst>
          </p:cNvPr>
          <p:cNvSpPr>
            <a:spLocks noGrp="1"/>
          </p:cNvSpPr>
          <p:nvPr/>
        </p:nvSpPr>
        <p:spPr>
          <a:xfrm>
            <a:off x="960120" y="5093208"/>
            <a:ext cx="41148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Phạm Duy Tùng</a:t>
            </a:r>
          </a:p>
          <a:p>
            <a:pPr marL="0" indent="0"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Trình bày bài toán</a:t>
            </a:r>
          </a:p>
        </p:txBody>
      </p:sp>
    </p:spTree>
    <p:extLst>
      <p:ext uri="{BB962C8B-B14F-4D97-AF65-F5344CB8AC3E}">
        <p14:creationId xmlns:p14="http://schemas.microsoft.com/office/powerpoint/2010/main" val="154090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908F23-D8B1-4AE3-B025-C65D65B526F9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0CAFC82-BF6A-41B5-AC8A-E75F2E55683E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9FC889-1605-403F-9405-5669638D3EE6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BỐI CẢNH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94D301-C3F6-43FB-9087-BDC62B04544B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Vì sao cần một trợ lý tư vấn thật sự?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1275AF5-9110-4E46-861D-1B3A36E3E032}"/>
              </a:ext>
            </a:extLst>
          </p:cNvPr>
          <p:cNvSpPr>
            <a:spLocks noGrp="1"/>
          </p:cNvSpPr>
          <p:nvPr/>
        </p:nvSpPr>
        <p:spPr>
          <a:xfrm>
            <a:off x="594360" y="1837944"/>
            <a:ext cx="566928" cy="566928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31" y="1991015"/>
            <a:ext cx="260787" cy="260787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80C91F8D-E8FB-4373-AB7E-CDA38A703A5C}"/>
              </a:ext>
            </a:extLst>
          </p:cNvPr>
          <p:cNvSpPr>
            <a:spLocks noGrp="1"/>
          </p:cNvSpPr>
          <p:nvPr/>
        </p:nvSpPr>
        <p:spPr>
          <a:xfrm>
            <a:off x="1371600" y="17830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Khách hàng nói theo cách của họ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394FD33-8906-456D-BDC0-801222E4199B}"/>
              </a:ext>
            </a:extLst>
          </p:cNvPr>
          <p:cNvSpPr>
            <a:spLocks noGrp="1"/>
          </p:cNvSpPr>
          <p:nvPr/>
        </p:nvSpPr>
        <p:spPr>
          <a:xfrm>
            <a:off x="1371600" y="2112264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Nhu cầu được mô tả bằng tiếng Việt đời thường — "pin trâu", "chụp đẹp", "cho con học online" — chứ không phải bằng thông số kỹ thuật.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57DEE10-9E55-4FE1-B81E-A7CD99CCAE4C}"/>
              </a:ext>
            </a:extLst>
          </p:cNvPr>
          <p:cNvSpPr>
            <a:spLocks noGrp="1"/>
          </p:cNvSpPr>
          <p:nvPr/>
        </p:nvSpPr>
        <p:spPr>
          <a:xfrm>
            <a:off x="594360" y="3319272"/>
            <a:ext cx="566928" cy="566928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31" y="3472343"/>
            <a:ext cx="260787" cy="260787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4FDBC655-8987-4DF2-84CF-863A77E995E8}"/>
              </a:ext>
            </a:extLst>
          </p:cNvPr>
          <p:cNvSpPr>
            <a:spLocks noGrp="1"/>
          </p:cNvSpPr>
          <p:nvPr/>
        </p:nvSpPr>
        <p:spPr>
          <a:xfrm>
            <a:off x="1371600" y="326440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Tìm kiếm từ khóa &amp; bộ lọc là chưa đủ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BD4218D-C65B-44DD-AF26-652EC11F8A63}"/>
              </a:ext>
            </a:extLst>
          </p:cNvPr>
          <p:cNvSpPr>
            <a:spLocks noGrp="1"/>
          </p:cNvSpPr>
          <p:nvPr/>
        </p:nvSpPr>
        <p:spPr>
          <a:xfrm>
            <a:off x="1371600" y="3593592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Công cụ hiện tại chỉ khớp chữ, không hiểu ngữ cảnh, không hỏi lại khi thông tin còn thiếu — nên dễ gợi ý sai nhu cầu.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71DAF59-C2D1-4B83-BB3C-AE34EC8FF157}"/>
              </a:ext>
            </a:extLst>
          </p:cNvPr>
          <p:cNvSpPr>
            <a:spLocks noGrp="1"/>
          </p:cNvSpPr>
          <p:nvPr/>
        </p:nvSpPr>
        <p:spPr>
          <a:xfrm>
            <a:off x="594360" y="4800600"/>
            <a:ext cx="566928" cy="566928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pic>
        <p:nvPicPr>
          <p:cNvPr id="3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31" y="4953671"/>
            <a:ext cx="260787" cy="260787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AE5BD240-73BC-47C8-A070-BB53103E2767}"/>
              </a:ext>
            </a:extLst>
          </p:cNvPr>
          <p:cNvSpPr>
            <a:spLocks noGrp="1"/>
          </p:cNvSpPr>
          <p:nvPr/>
        </p:nvSpPr>
        <p:spPr>
          <a:xfrm>
            <a:off x="1371600" y="4745736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Bảng thông số làm khách phổ thông "ngợp"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E84D986-D25B-44DE-80E7-751E5FA59B17}"/>
              </a:ext>
            </a:extLst>
          </p:cNvPr>
          <p:cNvSpPr>
            <a:spLocks noGrp="1"/>
          </p:cNvSpPr>
          <p:nvPr/>
        </p:nvSpPr>
        <p:spPr>
          <a:xfrm>
            <a:off x="1371600" y="507492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Liệt kê RAM, chip, mAh… không giúp người mua bình thường hiểu mình được gì và phải đánh đổi gì khi chọn.</a:t>
            </a: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8BCA0AF-34CB-4C22-89C0-58B2545180C7}"/>
              </a:ext>
            </a:extLst>
          </p:cNvPr>
          <p:cNvSpPr>
            <a:spLocks noGrp="1"/>
          </p:cNvSpPr>
          <p:nvPr/>
        </p:nvSpPr>
        <p:spPr>
          <a:xfrm>
            <a:off x="7315200" y="1965960"/>
            <a:ext cx="4206240" cy="3291840"/>
          </a:xfrm>
          <a:prstGeom prst="roundRect">
            <a:avLst>
              <a:gd name="adj" fmla="val 3333"/>
            </a:avLst>
          </a:prstGeom>
          <a:solidFill>
            <a:srgbClr val="EAF5FB"/>
          </a:solidFill>
          <a:effectLst>
            <a:outerShdw blurRad="101600" dist="25400" dir="5400000" algn="bl" rotWithShape="0">
              <a:srgbClr val="A9C7D8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E027483-E5ED-4A1E-9851-C0931423D93A}"/>
              </a:ext>
            </a:extLst>
          </p:cNvPr>
          <p:cNvSpPr>
            <a:spLocks noGrp="1"/>
          </p:cNvSpPr>
          <p:nvPr/>
        </p:nvSpPr>
        <p:spPr>
          <a:xfrm>
            <a:off x="7543800" y="192024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6000" b="1">
                <a:solidFill>
                  <a:srgbClr val="0F9ED5"/>
                </a:solidFill>
                <a:latin typeface="Cambria"/>
                <a:ea typeface="Cambria"/>
                <a:cs typeface="Cambria"/>
              </a:rPr>
              <a:t>“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857ABC3-A476-43E8-81F5-B72907C8259A}"/>
              </a:ext>
            </a:extLst>
          </p:cNvPr>
          <p:cNvSpPr>
            <a:spLocks noGrp="1"/>
          </p:cNvSpPr>
          <p:nvPr/>
        </p:nvSpPr>
        <p:spPr>
          <a:xfrm>
            <a:off x="7726680" y="269748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650" b="1" i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Mình cần laptop cho con học online, pin trâu, tầm 15 triệu — nên mua máy nào?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48858FC-22A5-4EFD-90C3-1207C4F88B8F}"/>
              </a:ext>
            </a:extLst>
          </p:cNvPr>
          <p:cNvSpPr>
            <a:spLocks noGrp="1"/>
          </p:cNvSpPr>
          <p:nvPr/>
        </p:nvSpPr>
        <p:spPr>
          <a:xfrm>
            <a:off x="7726680" y="4297680"/>
            <a:ext cx="342900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Một câu hỏi rất quen thuộc — nhưng ô tìm kiếm hiện tại không trả lời được trọn vẹn.</a:t>
            </a:r>
          </a:p>
        </p:txBody>
      </p:sp>
    </p:spTree>
    <p:extLst>
      <p:ext uri="{BB962C8B-B14F-4D97-AF65-F5344CB8AC3E}">
        <p14:creationId xmlns:p14="http://schemas.microsoft.com/office/powerpoint/2010/main" val="994967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5C5A60-1AB5-4E81-92C0-5633831C23ED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HIỆN TRẠNG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338A6B-11AD-4B49-A1AF-5FD8403FF410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Website hôm nay đang có gì?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4807424-277F-45CE-B910-29BAB8B1AD29}"/>
              </a:ext>
            </a:extLst>
          </p:cNvPr>
          <p:cNvSpPr>
            <a:spLocks noGrp="1"/>
          </p:cNvSpPr>
          <p:nvPr/>
        </p:nvSpPr>
        <p:spPr>
          <a:xfrm>
            <a:off x="594360" y="1572768"/>
            <a:ext cx="4672584" cy="3758184"/>
          </a:xfrm>
          <a:prstGeom prst="roundRect">
            <a:avLst>
              <a:gd name="adj" fmla="val 1366"/>
            </a:avLst>
          </a:prstGeom>
          <a:solidFill>
            <a:srgbClr val="FFFFFF"/>
          </a:solidFill>
          <a:ln w="15875">
            <a:solidFill>
              <a:srgbClr val="C9D6DF"/>
            </a:solidFill>
            <a:prstDash val="solid"/>
          </a:ln>
          <a:effectLst>
            <a:outerShdw blurRad="114300" dist="25400" dir="5400000" algn="bl" rotWithShape="0">
              <a:srgbClr val="A9C7D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45920"/>
            <a:ext cx="4526280" cy="361188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78D254E-6F35-47C0-944B-C8CB30E27FC2}"/>
              </a:ext>
            </a:extLst>
          </p:cNvPr>
          <p:cNvSpPr>
            <a:spLocks noGrp="1"/>
          </p:cNvSpPr>
          <p:nvPr/>
        </p:nvSpPr>
        <p:spPr>
          <a:xfrm>
            <a:off x="594360" y="5468112"/>
            <a:ext cx="467258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sz="115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Trang so sánh sản phẩm: bảng thông số kỹ thuật chi tiết, đối chiếu từng dòng.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4481A76-6049-462F-8314-5FE69EACA4A3}"/>
              </a:ext>
            </a:extLst>
          </p:cNvPr>
          <p:cNvSpPr>
            <a:spLocks noGrp="1"/>
          </p:cNvSpPr>
          <p:nvPr/>
        </p:nvSpPr>
        <p:spPr>
          <a:xfrm>
            <a:off x="6126480" y="1572768"/>
            <a:ext cx="5266944" cy="3749039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5875">
            <a:solidFill>
              <a:srgbClr val="C9D6DF"/>
            </a:solidFill>
            <a:prstDash val="solid"/>
          </a:ln>
          <a:effectLst>
            <a:outerShdw blurRad="114300" dist="25400" dir="5400000" algn="bl" rotWithShape="0">
              <a:srgbClr val="A9C7D8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EF2E55E-7B1B-452C-BBBD-78B6A7F218AC}"/>
              </a:ext>
            </a:extLst>
          </p:cNvPr>
          <p:cNvSpPr>
            <a:spLocks noGrp="1"/>
          </p:cNvSpPr>
          <p:nvPr/>
        </p:nvSpPr>
        <p:spPr>
          <a:xfrm>
            <a:off x="6126480" y="5468112"/>
            <a:ext cx="526694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sz="115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Trang sản phẩm: khuyến mãi, quà tặng và cam kết bảo hành, đổi trả.</a:t>
            </a:r>
          </a:p>
        </p:txBody>
      </p:sp>
      <p:pic>
        <p:nvPicPr>
          <p:cNvPr id="27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645920"/>
            <a:ext cx="5120640" cy="3602736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C959A3A-B49B-4866-A52E-4058651155B8}"/>
              </a:ext>
            </a:extLst>
          </p:cNvPr>
          <p:cNvSpPr>
            <a:spLocks noGrp="1"/>
          </p:cNvSpPr>
          <p:nvPr/>
        </p:nvSpPr>
        <p:spPr>
          <a:xfrm>
            <a:off x="594360" y="6144768"/>
            <a:ext cx="10991088" cy="502920"/>
          </a:xfrm>
          <a:prstGeom prst="roundRect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algn="ctr">
              <a:buNone/>
            </a:pPr>
            <a:r>
              <a:rPr sz="1300" b="1" i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Dữ liệu đã có đủ trên web — nhưng đang trình bày theo thông số, không theo nhu cầu: khách phải tự lọc, tự đọc bảng, tự so sánh.</a:t>
            </a:r>
          </a:p>
        </p:txBody>
      </p:sp>
    </p:spTree>
    <p:extLst>
      <p:ext uri="{BB962C8B-B14F-4D97-AF65-F5344CB8AC3E}">
        <p14:creationId xmlns:p14="http://schemas.microsoft.com/office/powerpoint/2010/main" val="98671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405CC7-B030-4ACA-8383-AC09F911A27D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A15D88-5D00-414A-B79A-F1361EF1455D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A77B08-2DEE-4175-8928-8322AA3AE852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BÀI TOÁN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AF2C79-0ECB-4F2A-AA52-4EF9A1F7D2F2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Biến một câu hỏi mộc mạc thành lời tư vấn </a:t>
            </a:r>
            <a:r>
              <a:rPr sz="30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đáng tin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0D69E7D-F801-4E9B-BA17-AC27CC0EE7D3}"/>
              </a:ext>
            </a:extLst>
          </p:cNvPr>
          <p:cNvSpPr>
            <a:spLocks noGrp="1"/>
          </p:cNvSpPr>
          <p:nvPr/>
        </p:nvSpPr>
        <p:spPr>
          <a:xfrm>
            <a:off x="594360" y="2103120"/>
            <a:ext cx="3246120" cy="2651760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FFFFFF"/>
              </a:gs>
              <a:gs pos="100000">
                <a:srgbClr val="EAF5FB"/>
              </a:gs>
            </a:gsLst>
            <a:lin ang="8100000"/>
          </a:gradFill>
          <a:ln w="14288">
            <a:solidFill>
              <a:srgbClr val="BFE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8235EF0-0B2F-47E7-AEC3-7DD3F9143540}"/>
              </a:ext>
            </a:extLst>
          </p:cNvPr>
          <p:cNvSpPr>
            <a:spLocks noGrp="1"/>
          </p:cNvSpPr>
          <p:nvPr/>
        </p:nvSpPr>
        <p:spPr>
          <a:xfrm>
            <a:off x="1938528" y="242316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DE8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599" y="2576231"/>
            <a:ext cx="260787" cy="260787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DDB7D63E-1E2E-4D65-8FED-1D43F2DCC578}"/>
              </a:ext>
            </a:extLst>
          </p:cNvPr>
          <p:cNvSpPr>
            <a:spLocks noGrp="1"/>
          </p:cNvSpPr>
          <p:nvPr/>
        </p:nvSpPr>
        <p:spPr>
          <a:xfrm>
            <a:off x="777240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ĐẦU VÀO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A1352B0-8743-467B-9F6F-4F9513786C7C}"/>
              </a:ext>
            </a:extLst>
          </p:cNvPr>
          <p:cNvSpPr>
            <a:spLocks noGrp="1"/>
          </p:cNvSpPr>
          <p:nvPr/>
        </p:nvSpPr>
        <p:spPr>
          <a:xfrm>
            <a:off x="868680" y="3429000"/>
            <a:ext cx="269748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sz="13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Một câu nói tự nhiên của khách — có thể còn mơ hồ, chưa rõ ngân sách hay mục đích.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4992482-D6D1-46CF-A78A-F90E249ACFBD}"/>
              </a:ext>
            </a:extLst>
          </p:cNvPr>
          <p:cNvSpPr>
            <a:spLocks noGrp="1"/>
          </p:cNvSpPr>
          <p:nvPr/>
        </p:nvSpPr>
        <p:spPr>
          <a:xfrm>
            <a:off x="3950208" y="3227832"/>
            <a:ext cx="566928" cy="402336"/>
          </a:xfrm>
          <a:prstGeom prst="rightArrow">
            <a:avLst/>
          </a:prstGeom>
          <a:gradFill>
            <a:gsLst>
              <a:gs pos="0">
                <a:srgbClr val="0F9ED5"/>
              </a:gs>
              <a:gs pos="100000">
                <a:srgbClr val="38C2EB"/>
              </a:gs>
            </a:gsLst>
            <a:lin ang="5400000"/>
          </a:gradFill>
          <a:ln w="4763">
            <a:solidFill>
              <a:srgbClr val="0F9ED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41EB110-773A-4935-8D0F-E231BF0738A9}"/>
              </a:ext>
            </a:extLst>
          </p:cNvPr>
          <p:cNvSpPr>
            <a:spLocks noGrp="1"/>
          </p:cNvSpPr>
          <p:nvPr/>
        </p:nvSpPr>
        <p:spPr>
          <a:xfrm>
            <a:off x="4626864" y="1874520"/>
            <a:ext cx="2926080" cy="3108960"/>
          </a:xfrm>
          <a:prstGeom prst="roundRect">
            <a:avLst>
              <a:gd name="adj" fmla="val 3125"/>
            </a:avLst>
          </a:prstGeom>
          <a:gradFill>
            <a:gsLst>
              <a:gs pos="0">
                <a:srgbClr val="0E2841"/>
              </a:gs>
              <a:gs pos="100000">
                <a:srgbClr val="164B6D"/>
              </a:gs>
            </a:gsLst>
            <a:lin ang="8100000"/>
          </a:gradFill>
          <a:ln w="14288">
            <a:solidFill>
              <a:srgbClr val="1C638A"/>
            </a:solidFill>
            <a:prstDash val="solid"/>
          </a:ln>
          <a:effectLst>
            <a:outerShdw blurRad="127000" dist="38100" dir="5400000" algn="bl" rotWithShape="0">
              <a:srgbClr val="9FB6C6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050417F-DEA6-450F-86A3-29EA265C6388}"/>
              </a:ext>
            </a:extLst>
          </p:cNvPr>
          <p:cNvSpPr>
            <a:spLocks noGrp="1"/>
          </p:cNvSpPr>
          <p:nvPr/>
        </p:nvSpPr>
        <p:spPr>
          <a:xfrm>
            <a:off x="5806440" y="2240280"/>
            <a:ext cx="566928" cy="566928"/>
          </a:xfrm>
          <a:prstGeom prst="ellipse">
            <a:avLst/>
          </a:prstGeom>
          <a:gradFill>
            <a:gsLst>
              <a:gs pos="0">
                <a:srgbClr val="0F9ED5"/>
              </a:gs>
              <a:gs pos="100000">
                <a:srgbClr val="156082"/>
              </a:gs>
            </a:gsLst>
            <a:lin ang="8100000"/>
          </a:gradFill>
          <a:ln w="9525">
            <a:solidFill>
              <a:srgbClr val="67C9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3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511" y="2393351"/>
            <a:ext cx="260787" cy="260787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7523B95D-E2C3-4436-9304-AAED3748D417}"/>
              </a:ext>
            </a:extLst>
          </p:cNvPr>
          <p:cNvSpPr>
            <a:spLocks noGrp="1"/>
          </p:cNvSpPr>
          <p:nvPr/>
        </p:nvSpPr>
        <p:spPr>
          <a:xfrm>
            <a:off x="4754880" y="2926080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7ED0F5"/>
                </a:solidFill>
                <a:latin typeface="Calibri"/>
                <a:ea typeface="Calibri"/>
                <a:cs typeface="Calibri"/>
              </a:rPr>
              <a:t>TRỢ LÝ AI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2EFBAB4-F8E7-4BE8-B06B-2830D0CAAA9B}"/>
              </a:ext>
            </a:extLst>
          </p:cNvPr>
          <p:cNvSpPr>
            <a:spLocks noGrp="1"/>
          </p:cNvSpPr>
          <p:nvPr/>
        </p:nvSpPr>
        <p:spPr>
          <a:xfrm>
            <a:off x="4754880" y="3246120"/>
            <a:ext cx="2670048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Hiểu đúng nhu cầu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Hỏi lại khi chưa rõ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 sánh bằng dữ liệu thật</a:t>
            </a:r>
          </a:p>
          <a:p>
            <a:pPr marL="0" indent="0" algn="ctr">
              <a:lnSpc>
                <a:spcPct val="135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 thích bình dị, dễ hiểu</a:t>
            </a: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EA1B7C66-9A4F-47F3-B250-C5E3C54E4DE8}"/>
              </a:ext>
            </a:extLst>
          </p:cNvPr>
          <p:cNvSpPr>
            <a:spLocks noGrp="1"/>
          </p:cNvSpPr>
          <p:nvPr/>
        </p:nvSpPr>
        <p:spPr>
          <a:xfrm>
            <a:off x="7662672" y="3227832"/>
            <a:ext cx="566928" cy="402336"/>
          </a:xfrm>
          <a:prstGeom prst="rightArrow">
            <a:avLst/>
          </a:prstGeom>
          <a:gradFill>
            <a:gsLst>
              <a:gs pos="0">
                <a:srgbClr val="0F9ED5"/>
              </a:gs>
              <a:gs pos="100000">
                <a:srgbClr val="38C2EB"/>
              </a:gs>
            </a:gsLst>
            <a:lin ang="5400000"/>
          </a:gradFill>
          <a:ln w="4763">
            <a:solidFill>
              <a:srgbClr val="0F9ED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7A64610-EF3B-4EF1-B834-777945900718}"/>
              </a:ext>
            </a:extLst>
          </p:cNvPr>
          <p:cNvSpPr>
            <a:spLocks noGrp="1"/>
          </p:cNvSpPr>
          <p:nvPr/>
        </p:nvSpPr>
        <p:spPr>
          <a:xfrm>
            <a:off x="8339328" y="2103120"/>
            <a:ext cx="3246120" cy="2651760"/>
          </a:xfrm>
          <a:prstGeom prst="roundRect">
            <a:avLst>
              <a:gd name="adj" fmla="val 3448"/>
            </a:avLst>
          </a:prstGeom>
          <a:gradFill>
            <a:gsLst>
              <a:gs pos="0">
                <a:srgbClr val="FFFFFF"/>
              </a:gs>
              <a:gs pos="100000">
                <a:srgbClr val="EAF5FB"/>
              </a:gs>
            </a:gsLst>
            <a:lin ang="13500000"/>
          </a:gradFill>
          <a:ln w="14288">
            <a:solidFill>
              <a:srgbClr val="BFE3F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0AF424A5-0FDD-4AF1-A9FB-C772A70A1AD8}"/>
              </a:ext>
            </a:extLst>
          </p:cNvPr>
          <p:cNvSpPr>
            <a:spLocks noGrp="1"/>
          </p:cNvSpPr>
          <p:nvPr/>
        </p:nvSpPr>
        <p:spPr>
          <a:xfrm>
            <a:off x="9683496" y="2423160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DE8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/>
          </a:p>
        </p:txBody>
      </p:sp>
      <p:pic>
        <p:nvPicPr>
          <p:cNvPr id="45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6567" y="2576231"/>
            <a:ext cx="260787" cy="260787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EABD257A-D7B1-463D-975E-5F89C4C7C60A}"/>
              </a:ext>
            </a:extLst>
          </p:cNvPr>
          <p:cNvSpPr>
            <a:spLocks noGrp="1"/>
          </p:cNvSpPr>
          <p:nvPr/>
        </p:nvSpPr>
        <p:spPr>
          <a:xfrm>
            <a:off x="8522208" y="31089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ĐẦU RA</a:t>
            </a: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D35BA2D3-6E5E-4535-BD01-49D12F05387B}"/>
              </a:ext>
            </a:extLst>
          </p:cNvPr>
          <p:cNvSpPr>
            <a:spLocks noGrp="1"/>
          </p:cNvSpPr>
          <p:nvPr/>
        </p:nvSpPr>
        <p:spPr>
          <a:xfrm>
            <a:off x="8613648" y="3429000"/>
            <a:ext cx="269748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sz="13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Vài lựa chọn phù hợp nhất, kèm lý do nên chọn và điều phải đánh đổi — ai đọc cũng hiểu.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F7839D98-0B13-42A4-9690-6FAB1A6663C5}"/>
              </a:ext>
            </a:extLst>
          </p:cNvPr>
          <p:cNvSpPr>
            <a:spLocks noGrp="1"/>
          </p:cNvSpPr>
          <p:nvPr/>
        </p:nvSpPr>
        <p:spPr>
          <a:xfrm>
            <a:off x="594360" y="5623560"/>
            <a:ext cx="109728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EAF5FB"/>
              </a:gs>
              <a:gs pos="100000">
                <a:srgbClr val="F7FCFF"/>
              </a:gs>
            </a:gsLst>
            <a:lin ang="0"/>
          </a:gradFill>
          <a:ln w="9525">
            <a:solidFill>
              <a:srgbClr val="CDE8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 i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Mục tiêu:</a:t>
            </a:r>
            <a:r>
              <a:rPr sz="1500" i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 như có một người tư vấn tận tâm bên cạnh — trực 24/7, cho mọi khách hàng.</a:t>
            </a:r>
          </a:p>
        </p:txBody>
      </p:sp>
    </p:spTree>
    <p:extLst>
      <p:ext uri="{BB962C8B-B14F-4D97-AF65-F5344CB8AC3E}">
        <p14:creationId xmlns:p14="http://schemas.microsoft.com/office/powerpoint/2010/main" val="38417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F37DC8-6B65-4E12-B39C-0861FEBD82A9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5A8DEC-E765-4E8F-B226-C6799D73E510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B14873-3B6D-4A48-B378-1FE1829B1AF9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LUỒNG HOẠT ĐỘNG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08767E-AC48-40DF-A193-79B75A6CA6E1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Bốn bước của một lượt tư vấn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44FAF6A9-BF71-4A42-8C10-343E1A4A7DC2}"/>
              </a:ext>
            </a:extLst>
          </p:cNvPr>
          <p:cNvSpPr>
            <a:spLocks noGrp="1"/>
          </p:cNvSpPr>
          <p:nvPr/>
        </p:nvSpPr>
        <p:spPr>
          <a:xfrm>
            <a:off x="594360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Vòng lặp hỏi – đáp tiếp diễn cho đến khi đủ thông tin để tư vấn tự tin.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9D82CBA-A0EC-4D6D-B2FA-95CE49FCF5F4}"/>
              </a:ext>
            </a:extLst>
          </p:cNvPr>
          <p:cNvSpPr>
            <a:spLocks noGrp="1"/>
          </p:cNvSpPr>
          <p:nvPr/>
        </p:nvSpPr>
        <p:spPr>
          <a:xfrm>
            <a:off x="594360" y="2011680"/>
            <a:ext cx="2578608" cy="320040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B0EDF9-C4A4-4DB9-A92C-012539178EA9}"/>
              </a:ext>
            </a:extLst>
          </p:cNvPr>
          <p:cNvSpPr>
            <a:spLocks noGrp="1"/>
          </p:cNvSpPr>
          <p:nvPr/>
        </p:nvSpPr>
        <p:spPr>
          <a:xfrm>
            <a:off x="795528" y="2176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2CA15E5-BE21-4FF5-BA08-6A46FAD87E69}"/>
              </a:ext>
            </a:extLst>
          </p:cNvPr>
          <p:cNvSpPr>
            <a:spLocks noGrp="1"/>
          </p:cNvSpPr>
          <p:nvPr/>
        </p:nvSpPr>
        <p:spPr>
          <a:xfrm>
            <a:off x="2423160" y="221284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3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464" y="2359152"/>
            <a:ext cx="237744" cy="23774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067B31E-FF74-4B2B-BB3A-9F0C85EE23BC}"/>
              </a:ext>
            </a:extLst>
          </p:cNvPr>
          <p:cNvSpPr>
            <a:spLocks noGrp="1"/>
          </p:cNvSpPr>
          <p:nvPr/>
        </p:nvSpPr>
        <p:spPr>
          <a:xfrm>
            <a:off x="795528" y="288036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Hiểu &amp; làm rõ nhu cầu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6F389-CCFD-44B4-96A7-4EC243CA778B}"/>
              </a:ext>
            </a:extLst>
          </p:cNvPr>
          <p:cNvSpPr>
            <a:spLocks noGrp="1"/>
          </p:cNvSpPr>
          <p:nvPr/>
        </p:nvSpPr>
        <p:spPr>
          <a:xfrm>
            <a:off x="795528" y="3493008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buNone/>
            </a:pPr>
            <a:r>
              <a:rPr sz="1150" b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Đọc câu khách nói để hiểu khách muốn gì; chỗ nào chưa rõ thì hỏi lại: mua gì, dùng vào việc gì, tầm bao nhiêu tiền.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BD7A352-AEB9-4A32-A3D0-B53A4C1ABAD4}"/>
              </a:ext>
            </a:extLst>
          </p:cNvPr>
          <p:cNvSpPr>
            <a:spLocks noGrp="1"/>
          </p:cNvSpPr>
          <p:nvPr/>
        </p:nvSpPr>
        <p:spPr>
          <a:xfrm>
            <a:off x="3401568" y="2011680"/>
            <a:ext cx="2578608" cy="320040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D7E6DD-8F06-4F48-A8B2-9062077CF85E}"/>
              </a:ext>
            </a:extLst>
          </p:cNvPr>
          <p:cNvSpPr>
            <a:spLocks noGrp="1"/>
          </p:cNvSpPr>
          <p:nvPr/>
        </p:nvSpPr>
        <p:spPr>
          <a:xfrm>
            <a:off x="3602736" y="2176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DCD2621-CBD1-4174-A10C-301C0C9ADA53}"/>
              </a:ext>
            </a:extLst>
          </p:cNvPr>
          <p:cNvSpPr>
            <a:spLocks noGrp="1"/>
          </p:cNvSpPr>
          <p:nvPr/>
        </p:nvSpPr>
        <p:spPr>
          <a:xfrm>
            <a:off x="5230367" y="221284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9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1" y="2359152"/>
            <a:ext cx="237744" cy="23774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7F6E3B2-67F0-4CAE-83D6-06D36EF97AB5}"/>
              </a:ext>
            </a:extLst>
          </p:cNvPr>
          <p:cNvSpPr>
            <a:spLocks noGrp="1"/>
          </p:cNvSpPr>
          <p:nvPr/>
        </p:nvSpPr>
        <p:spPr>
          <a:xfrm>
            <a:off x="3602736" y="288036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Truy xuất dữ liệu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F45269-9A0C-446E-9D0F-7AB83CFD0DA2}"/>
              </a:ext>
            </a:extLst>
          </p:cNvPr>
          <p:cNvSpPr>
            <a:spLocks noGrp="1"/>
          </p:cNvSpPr>
          <p:nvPr/>
        </p:nvSpPr>
        <p:spPr>
          <a:xfrm>
            <a:off x="3602736" y="3493008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buNone/>
            </a:pPr>
            <a:r>
              <a:rPr sz="1150" b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Lấy thông tin từ catalog, giá, khuyến mãi và chính sách đang có trên web.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F5D0001D-092F-43B1-98E0-9EDE9EA87243}"/>
              </a:ext>
            </a:extLst>
          </p:cNvPr>
          <p:cNvSpPr>
            <a:spLocks noGrp="1"/>
          </p:cNvSpPr>
          <p:nvPr/>
        </p:nvSpPr>
        <p:spPr>
          <a:xfrm>
            <a:off x="6208776" y="2011680"/>
            <a:ext cx="2578608" cy="320040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359534-6744-4804-BF66-E562BBEE9A9A}"/>
              </a:ext>
            </a:extLst>
          </p:cNvPr>
          <p:cNvSpPr>
            <a:spLocks noGrp="1"/>
          </p:cNvSpPr>
          <p:nvPr/>
        </p:nvSpPr>
        <p:spPr>
          <a:xfrm>
            <a:off x="6409944" y="2176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0204645-7B1D-47B4-96D0-222E6B3DADC0}"/>
              </a:ext>
            </a:extLst>
          </p:cNvPr>
          <p:cNvSpPr>
            <a:spLocks noGrp="1"/>
          </p:cNvSpPr>
          <p:nvPr/>
        </p:nvSpPr>
        <p:spPr>
          <a:xfrm>
            <a:off x="8037575" y="221284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5" name="Picture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2359152"/>
            <a:ext cx="237744" cy="23774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89FD83B-A342-4F47-BF4F-F5A085684110}"/>
              </a:ext>
            </a:extLst>
          </p:cNvPr>
          <p:cNvSpPr>
            <a:spLocks noGrp="1"/>
          </p:cNvSpPr>
          <p:nvPr/>
        </p:nvSpPr>
        <p:spPr>
          <a:xfrm>
            <a:off x="6409944" y="288036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So sánh &amp; xếp hạng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1C264B-48D8-4241-8542-F4BD92C7D108}"/>
              </a:ext>
            </a:extLst>
          </p:cNvPr>
          <p:cNvSpPr>
            <a:spLocks noGrp="1"/>
          </p:cNvSpPr>
          <p:nvPr/>
        </p:nvSpPr>
        <p:spPr>
          <a:xfrm>
            <a:off x="6409944" y="3493008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buNone/>
            </a:pPr>
            <a:r>
              <a:rPr sz="1150" b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Chấm mức độ phù hợp của từng sản phẩm với đúng nhu cầu đã hiểu.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4046A3D-33A8-43BE-8F12-00520D24CD97}"/>
              </a:ext>
            </a:extLst>
          </p:cNvPr>
          <p:cNvSpPr>
            <a:spLocks noGrp="1"/>
          </p:cNvSpPr>
          <p:nvPr/>
        </p:nvSpPr>
        <p:spPr>
          <a:xfrm>
            <a:off x="9015984" y="2011680"/>
            <a:ext cx="2578608" cy="3200400"/>
          </a:xfrm>
          <a:prstGeom prst="roundRect">
            <a:avLst/>
          </a:prstGeom>
          <a:solidFill>
            <a:srgbClr val="EAF5FB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1F050C-FC90-4C1D-B414-62ABA2DF715D}"/>
              </a:ext>
            </a:extLst>
          </p:cNvPr>
          <p:cNvSpPr>
            <a:spLocks noGrp="1"/>
          </p:cNvSpPr>
          <p:nvPr/>
        </p:nvSpPr>
        <p:spPr>
          <a:xfrm>
            <a:off x="9217152" y="2176272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3912C7-7741-4F0A-A896-5C16235AC819}"/>
              </a:ext>
            </a:extLst>
          </p:cNvPr>
          <p:cNvSpPr>
            <a:spLocks noGrp="1"/>
          </p:cNvSpPr>
          <p:nvPr/>
        </p:nvSpPr>
        <p:spPr>
          <a:xfrm>
            <a:off x="10844784" y="221284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1" name="Picture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088" y="2359152"/>
            <a:ext cx="237744" cy="23774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3AA8ED9-7CA1-402F-8834-6C38CC125613}"/>
              </a:ext>
            </a:extLst>
          </p:cNvPr>
          <p:cNvSpPr>
            <a:spLocks noGrp="1"/>
          </p:cNvSpPr>
          <p:nvPr/>
        </p:nvSpPr>
        <p:spPr>
          <a:xfrm>
            <a:off x="9217152" y="288036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Đề xuất &amp; giải thích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3E2D9F6-F249-4707-86A3-5B20C62822A5}"/>
              </a:ext>
            </a:extLst>
          </p:cNvPr>
          <p:cNvSpPr>
            <a:spLocks noGrp="1"/>
          </p:cNvSpPr>
          <p:nvPr/>
        </p:nvSpPr>
        <p:spPr>
          <a:xfrm>
            <a:off x="9217152" y="3493008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buNone/>
            </a:pPr>
            <a:r>
              <a:rPr sz="1150" b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Đưa ra top lựa chọn kèm điều được – điều phải đánh đổi, bằng lời lẽ đời thường.</a:t>
            </a:r>
          </a:p>
        </p:txBody>
      </p:sp>
    </p:spTree>
    <p:extLst>
      <p:ext uri="{BB962C8B-B14F-4D97-AF65-F5344CB8AC3E}">
        <p14:creationId xmlns:p14="http://schemas.microsoft.com/office/powerpoint/2010/main" val="26116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89C983-F2EF-4639-99AD-C42362DCC945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A469289-63B7-4F75-BABE-17EA6CE05017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D612C2-20A4-4830-B8FF-30F48F854B2B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NỀN TẢNG DỮ LIỆU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A013F6-5CD4-4086-8C68-BE9693619311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Tư vấn dựa trên dữ liệu thật của cửa hàng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EEC0F14-0CC3-43D8-8548-F10D5F9DA997}"/>
              </a:ext>
            </a:extLst>
          </p:cNvPr>
          <p:cNvSpPr>
            <a:spLocks noGrp="1"/>
          </p:cNvSpPr>
          <p:nvPr/>
        </p:nvSpPr>
        <p:spPr>
          <a:xfrm>
            <a:off x="594360" y="187452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6D60AF-DCD6-4491-B393-37FE596B7BD6}"/>
              </a:ext>
            </a:extLst>
          </p:cNvPr>
          <p:cNvSpPr>
            <a:spLocks noGrp="1"/>
          </p:cNvSpPr>
          <p:nvPr/>
        </p:nvSpPr>
        <p:spPr>
          <a:xfrm>
            <a:off x="850392" y="2167128"/>
            <a:ext cx="566928" cy="566928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63" y="2320199"/>
            <a:ext cx="260787" cy="260787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F127AB37-1A8F-49AF-A18C-9E7CF351C54B}"/>
              </a:ext>
            </a:extLst>
          </p:cNvPr>
          <p:cNvSpPr>
            <a:spLocks noGrp="1"/>
          </p:cNvSpPr>
          <p:nvPr/>
        </p:nvSpPr>
        <p:spPr>
          <a:xfrm>
            <a:off x="1645920" y="2167128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Catalog sản phẩm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11E12C-1D5B-4BDF-9210-A085C7DAA44D}"/>
              </a:ext>
            </a:extLst>
          </p:cNvPr>
          <p:cNvSpPr>
            <a:spLocks noGrp="1"/>
          </p:cNvSpPr>
          <p:nvPr/>
        </p:nvSpPr>
        <p:spPr>
          <a:xfrm>
            <a:off x="1645920" y="2551176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Thông số kỹ thuật, mô tả, danh mục của toàn bộ sản phẩm đang bán.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53ED14C-2023-4E44-AEF4-96F3533BCADA}"/>
              </a:ext>
            </a:extLst>
          </p:cNvPr>
          <p:cNvSpPr>
            <a:spLocks noGrp="1"/>
          </p:cNvSpPr>
          <p:nvPr/>
        </p:nvSpPr>
        <p:spPr>
          <a:xfrm>
            <a:off x="6263640" y="1874520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EA6A2EB-D97B-4E14-A53C-76351D97AFC9}"/>
              </a:ext>
            </a:extLst>
          </p:cNvPr>
          <p:cNvSpPr>
            <a:spLocks noGrp="1"/>
          </p:cNvSpPr>
          <p:nvPr/>
        </p:nvSpPr>
        <p:spPr>
          <a:xfrm>
            <a:off x="6519672" y="2167128"/>
            <a:ext cx="566928" cy="566928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743" y="2320199"/>
            <a:ext cx="260787" cy="260787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4EF88CB-165E-4881-8145-4ED9D99E1F60}"/>
              </a:ext>
            </a:extLst>
          </p:cNvPr>
          <p:cNvSpPr>
            <a:spLocks noGrp="1"/>
          </p:cNvSpPr>
          <p:nvPr/>
        </p:nvSpPr>
        <p:spPr>
          <a:xfrm>
            <a:off x="7315200" y="2167128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Giá bán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00D172D-AC4F-41B7-881B-04C5FFDFD0FD}"/>
              </a:ext>
            </a:extLst>
          </p:cNvPr>
          <p:cNvSpPr>
            <a:spLocks noGrp="1"/>
          </p:cNvSpPr>
          <p:nvPr/>
        </p:nvSpPr>
        <p:spPr>
          <a:xfrm>
            <a:off x="7315200" y="2551176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Giá niêm yết và giá đang áp dụng tại thời điểm khách hỏi.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CB8A94A-CD05-411B-8574-ED9FFBF08EDE}"/>
              </a:ext>
            </a:extLst>
          </p:cNvPr>
          <p:cNvSpPr>
            <a:spLocks noGrp="1"/>
          </p:cNvSpPr>
          <p:nvPr/>
        </p:nvSpPr>
        <p:spPr>
          <a:xfrm>
            <a:off x="594360" y="3822192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FD922205-A588-4950-9E08-0E77C6033934}"/>
              </a:ext>
            </a:extLst>
          </p:cNvPr>
          <p:cNvSpPr>
            <a:spLocks noGrp="1"/>
          </p:cNvSpPr>
          <p:nvPr/>
        </p:nvSpPr>
        <p:spPr>
          <a:xfrm>
            <a:off x="850392" y="4114800"/>
            <a:ext cx="566928" cy="566928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pic>
        <p:nvPicPr>
          <p:cNvPr id="4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463" y="4267871"/>
            <a:ext cx="260787" cy="260787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FDE12F31-FDC6-4B5C-BFFB-4B125E25BA73}"/>
              </a:ext>
            </a:extLst>
          </p:cNvPr>
          <p:cNvSpPr>
            <a:spLocks noGrp="1"/>
          </p:cNvSpPr>
          <p:nvPr/>
        </p:nvSpPr>
        <p:spPr>
          <a:xfrm>
            <a:off x="1645920" y="411480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Khuyến mãi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C59594DC-0515-4997-8060-6F113EF7B26E}"/>
              </a:ext>
            </a:extLst>
          </p:cNvPr>
          <p:cNvSpPr>
            <a:spLocks noGrp="1"/>
          </p:cNvSpPr>
          <p:nvPr/>
        </p:nvSpPr>
        <p:spPr>
          <a:xfrm>
            <a:off x="1645920" y="449884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Ưu đãi giảm giá, quà tặng kèm, chương trình trả góp hiện hành.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73C052F-8DED-422C-9F9E-F9B54029CF7E}"/>
              </a:ext>
            </a:extLst>
          </p:cNvPr>
          <p:cNvSpPr>
            <a:spLocks noGrp="1"/>
          </p:cNvSpPr>
          <p:nvPr/>
        </p:nvSpPr>
        <p:spPr>
          <a:xfrm>
            <a:off x="6263640" y="3822192"/>
            <a:ext cx="5440680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0712AD7-66B1-4E6C-81A2-6AD0139A1EC3}"/>
              </a:ext>
            </a:extLst>
          </p:cNvPr>
          <p:cNvSpPr>
            <a:spLocks noGrp="1"/>
          </p:cNvSpPr>
          <p:nvPr/>
        </p:nvSpPr>
        <p:spPr>
          <a:xfrm>
            <a:off x="6519672" y="4114800"/>
            <a:ext cx="566928" cy="566928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pic>
        <p:nvPicPr>
          <p:cNvPr id="53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743" y="4267871"/>
            <a:ext cx="260787" cy="260787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25EBB862-5E28-4A33-A14C-E7D0065CDE7C}"/>
              </a:ext>
            </a:extLst>
          </p:cNvPr>
          <p:cNvSpPr>
            <a:spLocks noGrp="1"/>
          </p:cNvSpPr>
          <p:nvPr/>
        </p:nvSpPr>
        <p:spPr>
          <a:xfrm>
            <a:off x="7315200" y="411480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Chính sách</a:t>
            </a: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CFA87DB6-0964-465A-BBA4-EDA695E46A5F}"/>
              </a:ext>
            </a:extLst>
          </p:cNvPr>
          <p:cNvSpPr>
            <a:spLocks noGrp="1"/>
          </p:cNvSpPr>
          <p:nvPr/>
        </p:nvSpPr>
        <p:spPr>
          <a:xfrm>
            <a:off x="7315200" y="4498848"/>
            <a:ext cx="41605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Bảo hành, đổi trả, giao hàng và các cam kết hậu mãi.</a:t>
            </a: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4FF1A105-FB58-4123-B567-9BBC13713C57}"/>
              </a:ext>
            </a:extLst>
          </p:cNvPr>
          <p:cNvSpPr>
            <a:spLocks noGrp="1"/>
          </p:cNvSpPr>
          <p:nvPr/>
        </p:nvSpPr>
        <p:spPr>
          <a:xfrm>
            <a:off x="594360" y="5715000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7A564914-B4FF-4969-963D-61CB853BCF58}"/>
              </a:ext>
            </a:extLst>
          </p:cNvPr>
          <p:cNvSpPr>
            <a:spLocks noGrp="1"/>
          </p:cNvSpPr>
          <p:nvPr/>
        </p:nvSpPr>
        <p:spPr>
          <a:xfrm>
            <a:off x="868680" y="5715000"/>
            <a:ext cx="105613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 i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Nguyên tắc: mọi khẳng định trong câu trả lời đều phải truy vết được về một nguồn dữ liệu ở trên.</a:t>
            </a:r>
          </a:p>
        </p:txBody>
      </p:sp>
    </p:spTree>
    <p:extLst>
      <p:ext uri="{BB962C8B-B14F-4D97-AF65-F5344CB8AC3E}">
        <p14:creationId xmlns:p14="http://schemas.microsoft.com/office/powerpoint/2010/main" val="111578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F0E780-02A1-4131-9330-A502579E613B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97F858-6D58-4273-9C2D-E60111583CB4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9DF816-393F-4239-AEE5-D950744F6D6F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ĐIỂM KHÁC BIỆT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242035-8566-4D1C-AD2F-465378894E6E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Năm yêu cầu then chốt của trợ lý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130FC82-CD9F-40B7-AB0E-DBA5B82A46E0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7E772A5-83A3-4127-932E-88105417403B}"/>
              </a:ext>
            </a:extLst>
          </p:cNvPr>
          <p:cNvSpPr>
            <a:spLocks noGrp="1"/>
          </p:cNvSpPr>
          <p:nvPr/>
        </p:nvSpPr>
        <p:spPr>
          <a:xfrm>
            <a:off x="822960" y="1883664"/>
            <a:ext cx="548640" cy="54864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031797"/>
            <a:ext cx="252374" cy="252374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3CF55F6-2039-4C39-8E67-7981C97D536C}"/>
              </a:ext>
            </a:extLst>
          </p:cNvPr>
          <p:cNvSpPr>
            <a:spLocks noGrp="1"/>
          </p:cNvSpPr>
          <p:nvPr/>
        </p:nvSpPr>
        <p:spPr>
          <a:xfrm>
            <a:off x="1554480" y="1883664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Hiểu tiếng Việt đời thường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B43ACBA-2494-4D2F-B737-C12D5BB4A034}"/>
              </a:ext>
            </a:extLst>
          </p:cNvPr>
          <p:cNvSpPr>
            <a:spLocks noGrp="1"/>
          </p:cNvSpPr>
          <p:nvPr/>
        </p:nvSpPr>
        <p:spPr>
          <a:xfrm>
            <a:off x="1554480" y="2267712"/>
            <a:ext cx="42519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Bắt được ý ngay cả khi khách viết tắt, thiếu dấu, dùng cách nói dân dã như "pin trâu", "mượt", "đáng tiền".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269EB24-6BDB-41FA-8672-32E47ED71193}"/>
              </a:ext>
            </a:extLst>
          </p:cNvPr>
          <p:cNvSpPr>
            <a:spLocks noGrp="1"/>
          </p:cNvSpPr>
          <p:nvPr/>
        </p:nvSpPr>
        <p:spPr>
          <a:xfrm>
            <a:off x="6263640" y="1645920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792D366-04CC-4121-8779-67D93C984469}"/>
              </a:ext>
            </a:extLst>
          </p:cNvPr>
          <p:cNvSpPr>
            <a:spLocks noGrp="1"/>
          </p:cNvSpPr>
          <p:nvPr/>
        </p:nvSpPr>
        <p:spPr>
          <a:xfrm>
            <a:off x="6492240" y="1883664"/>
            <a:ext cx="548640" cy="54864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4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373" y="2031797"/>
            <a:ext cx="252374" cy="252374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CB0E076-D84C-4128-9653-36A317B19D25}"/>
              </a:ext>
            </a:extLst>
          </p:cNvPr>
          <p:cNvSpPr>
            <a:spLocks noGrp="1"/>
          </p:cNvSpPr>
          <p:nvPr/>
        </p:nvSpPr>
        <p:spPr>
          <a:xfrm>
            <a:off x="7223760" y="1883664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Hỏi giản dị mà "trúng"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F367A6D-8CFC-4A91-8F52-691E9EC782D5}"/>
              </a:ext>
            </a:extLst>
          </p:cNvPr>
          <p:cNvSpPr>
            <a:spLocks noGrp="1"/>
          </p:cNvSpPr>
          <p:nvPr/>
        </p:nvSpPr>
        <p:spPr>
          <a:xfrm>
            <a:off x="7223760" y="2267712"/>
            <a:ext cx="42519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Câu hỏi gần gũi như người bán hàng quen: dễ trả lời, nhưng mỗi câu đều giúp thu hẹp phạm vi tìm kiếm.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4E7CCEE-5FC1-4456-9847-CA7246D19D1C}"/>
              </a:ext>
            </a:extLst>
          </p:cNvPr>
          <p:cNvSpPr>
            <a:spLocks noGrp="1"/>
          </p:cNvSpPr>
          <p:nvPr/>
        </p:nvSpPr>
        <p:spPr>
          <a:xfrm>
            <a:off x="594360" y="3511296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DDBE754-FECD-42FA-A922-F037B24FBF1F}"/>
              </a:ext>
            </a:extLst>
          </p:cNvPr>
          <p:cNvSpPr>
            <a:spLocks noGrp="1"/>
          </p:cNvSpPr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53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3897173"/>
            <a:ext cx="252374" cy="252374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33D086B9-D6FF-46CF-AA9B-118EE91E66F7}"/>
              </a:ext>
            </a:extLst>
          </p:cNvPr>
          <p:cNvSpPr>
            <a:spLocks noGrp="1"/>
          </p:cNvSpPr>
          <p:nvPr/>
        </p:nvSpPr>
        <p:spPr>
          <a:xfrm>
            <a:off x="1554480" y="37490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Nói chuyện bình dân, gần gũi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EF3B9D0-6E94-4C3C-9B3E-8307A052A972}"/>
              </a:ext>
            </a:extLst>
          </p:cNvPr>
          <p:cNvSpPr>
            <a:spLocks noGrp="1"/>
          </p:cNvSpPr>
          <p:nvPr/>
        </p:nvSpPr>
        <p:spPr>
          <a:xfrm>
            <a:off x="1554480" y="4133088"/>
            <a:ext cx="42519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Không thuật ngữ marketing, không từ ngữ cao siêu — khách nào đọc cũng hiểu ngay, kể cả người không am hiểu công nghệ.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A2E0F95-FCA8-47A6-A3B5-4983F7406F74}"/>
              </a:ext>
            </a:extLst>
          </p:cNvPr>
          <p:cNvSpPr>
            <a:spLocks noGrp="1"/>
          </p:cNvSpPr>
          <p:nvPr/>
        </p:nvSpPr>
        <p:spPr>
          <a:xfrm>
            <a:off x="6263640" y="3511296"/>
            <a:ext cx="5440680" cy="1664208"/>
          </a:xfrm>
          <a:prstGeom prst="roundRect">
            <a:avLst>
              <a:gd name="adj" fmla="val 4945"/>
            </a:avLst>
          </a:prstGeom>
          <a:solidFill>
            <a:srgbClr val="F4FAFD"/>
          </a:solidFill>
          <a:ln w="12700">
            <a:solidFill>
              <a:srgbClr val="CFE6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ED0B57EB-9492-489B-9287-DD5F88B03F77}"/>
              </a:ext>
            </a:extLst>
          </p:cNvPr>
          <p:cNvSpPr>
            <a:spLocks noGrp="1"/>
          </p:cNvSpPr>
          <p:nvPr/>
        </p:nvSpPr>
        <p:spPr>
          <a:xfrm>
            <a:off x="6492240" y="3749040"/>
            <a:ext cx="548640" cy="54864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58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373" y="3897173"/>
            <a:ext cx="252374" cy="252374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0BEC8169-576B-4CC7-924A-72B915BEFDE1}"/>
              </a:ext>
            </a:extLst>
          </p:cNvPr>
          <p:cNvSpPr>
            <a:spLocks noGrp="1"/>
          </p:cNvSpPr>
          <p:nvPr/>
        </p:nvSpPr>
        <p:spPr>
          <a:xfrm>
            <a:off x="7223760" y="37490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Giải thích trade-off dễ hiểu</a:t>
            </a: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EA260954-D3FC-4284-8E49-88A1E9EAB438}"/>
              </a:ext>
            </a:extLst>
          </p:cNvPr>
          <p:cNvSpPr>
            <a:spLocks noGrp="1"/>
          </p:cNvSpPr>
          <p:nvPr/>
        </p:nvSpPr>
        <p:spPr>
          <a:xfrm>
            <a:off x="7223760" y="4133088"/>
            <a:ext cx="425196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Không đọc lại bảng thông số. Nói kiểu: "Máy A pin lâu hơn nửa ngày, đổi lại nặng hơn và chụp thiếu sáng kém hơn."</a:t>
            </a: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9D36D325-6A49-4455-B6B4-F18403E65788}"/>
              </a:ext>
            </a:extLst>
          </p:cNvPr>
          <p:cNvSpPr>
            <a:spLocks noGrp="1"/>
          </p:cNvSpPr>
          <p:nvPr/>
        </p:nvSpPr>
        <p:spPr>
          <a:xfrm>
            <a:off x="594360" y="5376672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FDF0E4"/>
          </a:solidFill>
          <a:ln w="12700">
            <a:solidFill>
              <a:srgbClr val="F3CCA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396EB1FB-4FDB-4ED8-B3AC-3D99B8D817D1}"/>
              </a:ext>
            </a:extLst>
          </p:cNvPr>
          <p:cNvSpPr>
            <a:spLocks noGrp="1"/>
          </p:cNvSpPr>
          <p:nvPr/>
        </p:nvSpPr>
        <p:spPr>
          <a:xfrm>
            <a:off x="822960" y="5623560"/>
            <a:ext cx="548640" cy="54864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63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3" y="5771693"/>
            <a:ext cx="252374" cy="252374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1EF863B2-C3C1-4697-A0A3-C8338BA65A82}"/>
              </a:ext>
            </a:extLst>
          </p:cNvPr>
          <p:cNvSpPr>
            <a:spLocks noGrp="1"/>
          </p:cNvSpPr>
          <p:nvPr/>
        </p:nvSpPr>
        <p:spPr>
          <a:xfrm>
            <a:off x="1554480" y="5559552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B4530F"/>
                </a:solidFill>
                <a:latin typeface="Calibri"/>
                <a:ea typeface="Calibri"/>
                <a:cs typeface="Calibri"/>
              </a:rPr>
              <a:t>Không bịa thông tin</a:t>
            </a: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022484D-BD93-4134-B38D-FAFB3E101A48}"/>
              </a:ext>
            </a:extLst>
          </p:cNvPr>
          <p:cNvSpPr>
            <a:spLocks noGrp="1"/>
          </p:cNvSpPr>
          <p:nvPr/>
        </p:nvSpPr>
        <p:spPr>
          <a:xfrm>
            <a:off x="1554480" y="5925312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8A5A33"/>
                </a:solidFill>
                <a:latin typeface="Calibri"/>
                <a:ea typeface="Calibri"/>
                <a:cs typeface="Calibri"/>
              </a:rPr>
              <a:t>Chỉ khẳng định điều có trong dữ liệu. Không có dữ liệu thì nói thẳng "chưa có thông tin" — tuyệt đối không tự chế.</a:t>
            </a: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ACB1C627-485F-49DA-B40F-65DDA04B9E45}"/>
              </a:ext>
            </a:extLst>
          </p:cNvPr>
          <p:cNvSpPr>
            <a:spLocks noGrp="1"/>
          </p:cNvSpPr>
          <p:nvPr/>
        </p:nvSpPr>
        <p:spPr>
          <a:xfrm>
            <a:off x="59436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i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Giá trị cốt lõi: tư vấn như người bán hàng quen — trung thực như dữ liệu.</a:t>
            </a:r>
          </a:p>
        </p:txBody>
      </p:sp>
    </p:spTree>
    <p:extLst>
      <p:ext uri="{BB962C8B-B14F-4D97-AF65-F5344CB8AC3E}">
        <p14:creationId xmlns:p14="http://schemas.microsoft.com/office/powerpoint/2010/main" val="1679134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68F1C53-D066-43E2-AF87-9887CD5F8365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C9C644-D300-445E-9C8B-F52455EABAD6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17C84-132F-43FE-9950-13CC4EACA5D9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ĐIỂM CỘNG KỸ THUẬT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A91A7-00AD-4224-92E9-8B5A9D2E76E8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Sử dụng LLM open-weight là điểm cộng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68F547-0700-4B68-BE4D-9113E95C942A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10991088" cy="1005840"/>
          </a:xfrm>
          <a:prstGeom prst="round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anchor="ctr"/>
          <a:lstStyle/>
          <a:p>
            <a:pPr algn="ctr">
              <a:lnSpc>
                <a:spcPct val="115000"/>
              </a:lnSpc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Giải pháp được đánh giá cao khi sử dụng mô hình open-weight và có thể tự triển khai trên hạ tầng riêng; đây là điểm cộng, không phải điều kiện bắt buộc.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8B08C9-59DC-4EF9-9984-3AE79D603E73}"/>
              </a:ext>
            </a:extLst>
          </p:cNvPr>
          <p:cNvSpPr>
            <a:spLocks noGrp="1"/>
          </p:cNvSpPr>
          <p:nvPr/>
        </p:nvSpPr>
        <p:spPr>
          <a:xfrm>
            <a:off x="594360" y="2926080"/>
            <a:ext cx="3602736" cy="214884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63BC45-F533-45E6-BA1E-B559B1C079D2}"/>
              </a:ext>
            </a:extLst>
          </p:cNvPr>
          <p:cNvSpPr>
            <a:spLocks noGrp="1"/>
          </p:cNvSpPr>
          <p:nvPr/>
        </p:nvSpPr>
        <p:spPr>
          <a:xfrm>
            <a:off x="850392" y="3182112"/>
            <a:ext cx="548640" cy="54864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328416"/>
            <a:ext cx="256032" cy="2560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B31361-DCCF-4BD5-BC6C-012808EA763A}"/>
              </a:ext>
            </a:extLst>
          </p:cNvPr>
          <p:cNvSpPr>
            <a:spLocks noGrp="1"/>
          </p:cNvSpPr>
          <p:nvPr/>
        </p:nvSpPr>
        <p:spPr>
          <a:xfrm>
            <a:off x="850392" y="3858768"/>
            <a:ext cx="3090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Dữ liệu ở lại hệ thống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B9355-C0F8-4BAA-A1F8-5EBFA4866183}"/>
              </a:ext>
            </a:extLst>
          </p:cNvPr>
          <p:cNvSpPr>
            <a:spLocks noGrp="1"/>
          </p:cNvSpPr>
          <p:nvPr/>
        </p:nvSpPr>
        <p:spPr>
          <a:xfrm>
            <a:off x="850392" y="4206240"/>
            <a:ext cx="30906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150" b="0" i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Thông tin khách và dữ liệu cửa hàng được xử lý ngay trên hạ tầng của mình, không gửi ra bên ngoài.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3AB82CC-BBEB-43F2-8A5C-7A670FF075C8}"/>
              </a:ext>
            </a:extLst>
          </p:cNvPr>
          <p:cNvSpPr>
            <a:spLocks noGrp="1"/>
          </p:cNvSpPr>
          <p:nvPr/>
        </p:nvSpPr>
        <p:spPr>
          <a:xfrm>
            <a:off x="4379976" y="2926080"/>
            <a:ext cx="3602736" cy="214884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FDE600-C3D9-4B25-BC68-BC78ADCC618D}"/>
              </a:ext>
            </a:extLst>
          </p:cNvPr>
          <p:cNvSpPr>
            <a:spLocks noGrp="1"/>
          </p:cNvSpPr>
          <p:nvPr/>
        </p:nvSpPr>
        <p:spPr>
          <a:xfrm>
            <a:off x="4636008" y="3182112"/>
            <a:ext cx="548640" cy="54864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2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328416"/>
            <a:ext cx="256032" cy="2560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1704FC-C0F5-4D95-AC21-3121B7CB9185}"/>
              </a:ext>
            </a:extLst>
          </p:cNvPr>
          <p:cNvSpPr>
            <a:spLocks noGrp="1"/>
          </p:cNvSpPr>
          <p:nvPr/>
        </p:nvSpPr>
        <p:spPr>
          <a:xfrm>
            <a:off x="4636008" y="3858768"/>
            <a:ext cx="3090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Chủ động chi phí &amp; vận hành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70077-11EB-41E3-BD37-2219F6428A61}"/>
              </a:ext>
            </a:extLst>
          </p:cNvPr>
          <p:cNvSpPr>
            <a:spLocks noGrp="1"/>
          </p:cNvSpPr>
          <p:nvPr/>
        </p:nvSpPr>
        <p:spPr>
          <a:xfrm>
            <a:off x="4636008" y="4206240"/>
            <a:ext cx="30906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150" b="0" i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Tự triển khai, tự mở rộng — không lo phí API hay giới hạn lượt gọi khi lượng khách tăng.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E285D95-0DFC-4C7A-A92E-496DFA1446BA}"/>
              </a:ext>
            </a:extLst>
          </p:cNvPr>
          <p:cNvSpPr>
            <a:spLocks noGrp="1"/>
          </p:cNvSpPr>
          <p:nvPr/>
        </p:nvSpPr>
        <p:spPr>
          <a:xfrm>
            <a:off x="8165592" y="2926080"/>
            <a:ext cx="3602736" cy="214884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7E998E-9BCE-4B8D-9E2C-997A01094B3F}"/>
              </a:ext>
            </a:extLst>
          </p:cNvPr>
          <p:cNvSpPr>
            <a:spLocks noGrp="1"/>
          </p:cNvSpPr>
          <p:nvPr/>
        </p:nvSpPr>
        <p:spPr>
          <a:xfrm>
            <a:off x="8421624" y="3182112"/>
            <a:ext cx="548640" cy="54864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7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3328416"/>
            <a:ext cx="256032" cy="2560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BC3B2E8-27D4-42DD-9E7A-E802E0C548C9}"/>
              </a:ext>
            </a:extLst>
          </p:cNvPr>
          <p:cNvSpPr>
            <a:spLocks noGrp="1"/>
          </p:cNvSpPr>
          <p:nvPr/>
        </p:nvSpPr>
        <p:spPr>
          <a:xfrm>
            <a:off x="8421624" y="3858768"/>
            <a:ext cx="3090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Tự do tinh chỉnh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1B2D66-CC5A-4139-A9B2-01F2FE40DAF5}"/>
              </a:ext>
            </a:extLst>
          </p:cNvPr>
          <p:cNvSpPr>
            <a:spLocks noGrp="1"/>
          </p:cNvSpPr>
          <p:nvPr/>
        </p:nvSpPr>
        <p:spPr>
          <a:xfrm>
            <a:off x="8421624" y="4206240"/>
            <a:ext cx="30906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150" b="0" i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Có thể fine-tune cho tiếng Việt đời thường và đặc thù ngành hàng của cửa hàng.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4778BA-56EC-403B-ABFE-166D5C73F779}"/>
              </a:ext>
            </a:extLst>
          </p:cNvPr>
          <p:cNvSpPr>
            <a:spLocks noGrp="1"/>
          </p:cNvSpPr>
          <p:nvPr/>
        </p:nvSpPr>
        <p:spPr>
          <a:xfrm>
            <a:off x="594360" y="548640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Gợi ý mô hình: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463C5A7-7B84-484F-8C03-3F22417EDECA}"/>
              </a:ext>
            </a:extLst>
          </p:cNvPr>
          <p:cNvSpPr>
            <a:spLocks noGrp="1"/>
          </p:cNvSpPr>
          <p:nvPr/>
        </p:nvSpPr>
        <p:spPr>
          <a:xfrm>
            <a:off x="2240280" y="5486400"/>
            <a:ext cx="1051560" cy="411480"/>
          </a:xfrm>
          <a:prstGeom prst="roundRect">
            <a:avLst/>
          </a:prstGeom>
          <a:solidFill>
            <a:srgbClr val="EAF5FB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anchor="ctr"/>
          <a:lstStyle/>
          <a:p>
            <a:pPr algn="ctr">
              <a:buNone/>
            </a:pPr>
            <a:r>
              <a:rPr sz="1300" b="1" i="0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Qwen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3921907-D50A-436C-8D14-034A066D1E0B}"/>
              </a:ext>
            </a:extLst>
          </p:cNvPr>
          <p:cNvSpPr>
            <a:spLocks noGrp="1"/>
          </p:cNvSpPr>
          <p:nvPr/>
        </p:nvSpPr>
        <p:spPr>
          <a:xfrm>
            <a:off x="3429000" y="5486400"/>
            <a:ext cx="1417320" cy="411480"/>
          </a:xfrm>
          <a:prstGeom prst="roundRect">
            <a:avLst/>
          </a:prstGeom>
          <a:solidFill>
            <a:srgbClr val="EAF5FB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anchor="ctr"/>
          <a:lstStyle/>
          <a:p>
            <a:pPr algn="ctr">
              <a:buNone/>
            </a:pPr>
            <a:r>
              <a:rPr sz="1300" b="1" i="0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DeepSeek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6E44C-96F4-4A71-A276-9DF00F0DB538}"/>
              </a:ext>
            </a:extLst>
          </p:cNvPr>
          <p:cNvSpPr>
            <a:spLocks noGrp="1"/>
          </p:cNvSpPr>
          <p:nvPr/>
        </p:nvSpPr>
        <p:spPr>
          <a:xfrm>
            <a:off x="5029200" y="548640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200" b="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…hoặc mô hình open-weight tương đương (Llama, Mistral, Gemma…).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ECC80C-94CE-491B-AC1E-DDF0773F9F45}"/>
              </a:ext>
            </a:extLst>
          </p:cNvPr>
          <p:cNvSpPr>
            <a:spLocks noGrp="1"/>
          </p:cNvSpPr>
          <p:nvPr/>
        </p:nvSpPr>
        <p:spPr>
          <a:xfrm>
            <a:off x="594360" y="6217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Đội được tự do chọn mô hình và cách triển khai; sử dụng LLM open-weight được tính là điểm cộng.</a:t>
            </a:r>
          </a:p>
        </p:txBody>
      </p:sp>
    </p:spTree>
    <p:extLst>
      <p:ext uri="{BB962C8B-B14F-4D97-AF65-F5344CB8AC3E}">
        <p14:creationId xmlns:p14="http://schemas.microsoft.com/office/powerpoint/2010/main" val="1949911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68F1C53-D066-43E2-AF87-9887CD5F8365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C9C644-D300-445E-9C8B-F52455EABAD6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17C84-132F-43FE-9950-13CC4EACA5D9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ĐIỂM CỘNG TIẾP THEO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A91A7-00AD-4224-92E9-8B5A9D2E76E8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Giải pháp tổng quát hóa cho sản phẩm mới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68F547-0700-4B68-BE4D-9113E95C942A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10991088" cy="1005840"/>
          </a:xfrm>
          <a:prstGeom prst="round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anchor="ctr"/>
          <a:lstStyle/>
          <a:p>
            <a:pPr algn="ctr">
              <a:lnSpc>
                <a:spcPct val="115000"/>
              </a:lnSpc>
              <a:buNone/>
            </a:pPr>
            <a:r>
              <a:rPr sz="14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Điểm cộng nếu giải pháp có thể tiếp nhận sản phẩm hoặc ngành hàng mới mà không phải viết lại toàn bộ luồng tư vấn.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8B08C9-59DC-4EF9-9984-3AE79D603E73}"/>
              </a:ext>
            </a:extLst>
          </p:cNvPr>
          <p:cNvSpPr>
            <a:spLocks noGrp="1"/>
          </p:cNvSpPr>
          <p:nvPr/>
        </p:nvSpPr>
        <p:spPr>
          <a:xfrm>
            <a:off x="594360" y="2926080"/>
            <a:ext cx="3602736" cy="214884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63BC45-F533-45E6-BA1E-B559B1C079D2}"/>
              </a:ext>
            </a:extLst>
          </p:cNvPr>
          <p:cNvSpPr>
            <a:spLocks noGrp="1"/>
          </p:cNvSpPr>
          <p:nvPr/>
        </p:nvSpPr>
        <p:spPr>
          <a:xfrm>
            <a:off x="850392" y="3182112"/>
            <a:ext cx="548640" cy="54864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328416"/>
            <a:ext cx="256032" cy="2560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B31361-DCCF-4BD5-BC6C-012808EA763A}"/>
              </a:ext>
            </a:extLst>
          </p:cNvPr>
          <p:cNvSpPr>
            <a:spLocks noGrp="1"/>
          </p:cNvSpPr>
          <p:nvPr/>
        </p:nvSpPr>
        <p:spPr>
          <a:xfrm>
            <a:off x="850392" y="3858768"/>
            <a:ext cx="3090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Mở rộng có kiểm soát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B9355-C0F8-4BAA-A1F8-5EBFA4866183}"/>
              </a:ext>
            </a:extLst>
          </p:cNvPr>
          <p:cNvSpPr>
            <a:spLocks noGrp="1"/>
          </p:cNvSpPr>
          <p:nvPr/>
        </p:nvSpPr>
        <p:spPr>
          <a:xfrm>
            <a:off x="850392" y="4206240"/>
            <a:ext cx="30906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150" b="0" i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Khai báo schema và thuộc tính cần thiết cho từng nhóm sản phẩm, thay vì gắn cứng theo một ngành hàng.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3AB82CC-BBEB-43F2-8A5C-7A670FF075C8}"/>
              </a:ext>
            </a:extLst>
          </p:cNvPr>
          <p:cNvSpPr>
            <a:spLocks noGrp="1"/>
          </p:cNvSpPr>
          <p:nvPr/>
        </p:nvSpPr>
        <p:spPr>
          <a:xfrm>
            <a:off x="4379976" y="2926080"/>
            <a:ext cx="3602736" cy="214884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FDE600-C3D9-4B25-BC68-BC78ADCC618D}"/>
              </a:ext>
            </a:extLst>
          </p:cNvPr>
          <p:cNvSpPr>
            <a:spLocks noGrp="1"/>
          </p:cNvSpPr>
          <p:nvPr/>
        </p:nvSpPr>
        <p:spPr>
          <a:xfrm>
            <a:off x="4636008" y="3182112"/>
            <a:ext cx="548640" cy="54864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2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328416"/>
            <a:ext cx="256032" cy="2560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1704FC-C0F5-4D95-AC21-3121B7CB9185}"/>
              </a:ext>
            </a:extLst>
          </p:cNvPr>
          <p:cNvSpPr>
            <a:spLocks noGrp="1"/>
          </p:cNvSpPr>
          <p:nvPr/>
        </p:nvSpPr>
        <p:spPr>
          <a:xfrm>
            <a:off x="4636008" y="3858768"/>
            <a:ext cx="3090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Nạp dữ liệu sản phẩm mới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70077-11EB-41E3-BD37-2219F6428A61}"/>
              </a:ext>
            </a:extLst>
          </p:cNvPr>
          <p:cNvSpPr>
            <a:spLocks noGrp="1"/>
          </p:cNvSpPr>
          <p:nvPr/>
        </p:nvSpPr>
        <p:spPr>
          <a:xfrm>
            <a:off x="4636008" y="4206240"/>
            <a:ext cx="30906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150" b="0" i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Cập nhật catalog, giá, khuyến mãi và chính sách để sản phẩm mới tham gia tư vấn.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E285D95-0DFC-4C7A-A92E-496DFA1446BA}"/>
              </a:ext>
            </a:extLst>
          </p:cNvPr>
          <p:cNvSpPr>
            <a:spLocks noGrp="1"/>
          </p:cNvSpPr>
          <p:nvPr/>
        </p:nvSpPr>
        <p:spPr>
          <a:xfrm>
            <a:off x="8165592" y="2926080"/>
            <a:ext cx="3602736" cy="2148840"/>
          </a:xfrm>
          <a:prstGeom prst="roundRect">
            <a:avLst/>
          </a:prstGeom>
          <a:solidFill>
            <a:srgbClr val="F4FAFD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7E998E-9BCE-4B8D-9E2C-997A01094B3F}"/>
              </a:ext>
            </a:extLst>
          </p:cNvPr>
          <p:cNvSpPr>
            <a:spLocks noGrp="1"/>
          </p:cNvSpPr>
          <p:nvPr/>
        </p:nvSpPr>
        <p:spPr>
          <a:xfrm>
            <a:off x="8421624" y="3182112"/>
            <a:ext cx="548640" cy="548640"/>
          </a:xfrm>
          <a:prstGeom prst="ellipse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7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3328416"/>
            <a:ext cx="256032" cy="2560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BC3B2E8-27D4-42DD-9E7A-E802E0C548C9}"/>
              </a:ext>
            </a:extLst>
          </p:cNvPr>
          <p:cNvSpPr>
            <a:spLocks noGrp="1"/>
          </p:cNvSpPr>
          <p:nvPr/>
        </p:nvSpPr>
        <p:spPr>
          <a:xfrm>
            <a:off x="8421624" y="3858768"/>
            <a:ext cx="309067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Tái sử dụng logic tư vấn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1B2D66-CC5A-4139-A9B2-01F2FE40DAF5}"/>
              </a:ext>
            </a:extLst>
          </p:cNvPr>
          <p:cNvSpPr>
            <a:spLocks noGrp="1"/>
          </p:cNvSpPr>
          <p:nvPr/>
        </p:nvSpPr>
        <p:spPr>
          <a:xfrm>
            <a:off x="8421624" y="4206240"/>
            <a:ext cx="30906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150" b="0" i="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Giữ nguyên cách hỏi nhu cầu, so sánh mức phù hợp và giải thích trade-off.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4778BA-56EC-403B-ABFE-166D5C73F779}"/>
              </a:ext>
            </a:extLst>
          </p:cNvPr>
          <p:cNvSpPr>
            <a:spLocks noGrp="1"/>
          </p:cNvSpPr>
          <p:nvPr/>
        </p:nvSpPr>
        <p:spPr>
          <a:xfrm>
            <a:off x="594360" y="548640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350" b="1" i="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Minh chứng: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463C5A7-7B84-484F-8C03-3F22417EDECA}"/>
              </a:ext>
            </a:extLst>
          </p:cNvPr>
          <p:cNvSpPr>
            <a:spLocks noGrp="1"/>
          </p:cNvSpPr>
          <p:nvPr/>
        </p:nvSpPr>
        <p:spPr>
          <a:xfrm>
            <a:off x="2240280" y="5486400"/>
            <a:ext cx="1051560" cy="411480"/>
          </a:xfrm>
          <a:prstGeom prst="roundRect">
            <a:avLst/>
          </a:prstGeom>
          <a:solidFill>
            <a:srgbClr val="EAF5FB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anchor="ctr"/>
          <a:lstStyle/>
          <a:p>
            <a:pPr algn="ctr">
              <a:buNone/>
            </a:pPr>
            <a:r>
              <a:rPr sz="1300" b="1" i="0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SP+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3921907-D50A-436C-8D14-034A066D1E0B}"/>
              </a:ext>
            </a:extLst>
          </p:cNvPr>
          <p:cNvSpPr>
            <a:spLocks noGrp="1"/>
          </p:cNvSpPr>
          <p:nvPr/>
        </p:nvSpPr>
        <p:spPr>
          <a:xfrm>
            <a:off x="3429000" y="5486400"/>
            <a:ext cx="1417320" cy="411480"/>
          </a:xfrm>
          <a:prstGeom prst="roundRect">
            <a:avLst/>
          </a:prstGeom>
          <a:solidFill>
            <a:srgbClr val="EAF5FB"/>
          </a:solidFill>
          <a:ln w="12700">
            <a:solidFill>
              <a:srgbClr val="C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anchor="ctr"/>
          <a:lstStyle/>
          <a:p>
            <a:pPr algn="ctr">
              <a:buNone/>
            </a:pPr>
            <a:r>
              <a:rPr sz="1300" b="1" i="0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Ngành+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6E44C-96F4-4A71-A276-9DF00F0DB538}"/>
              </a:ext>
            </a:extLst>
          </p:cNvPr>
          <p:cNvSpPr>
            <a:spLocks noGrp="1"/>
          </p:cNvSpPr>
          <p:nvPr/>
        </p:nvSpPr>
        <p:spPr>
          <a:xfrm>
            <a:off x="5029200" y="5486400"/>
            <a:ext cx="6492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1200" b="0" i="1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Demo bằng cách bổ sung một sản phẩm chưa có trong dữ liệu ban đầu và cho hệ thống tư vấn ngay.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ECC80C-94CE-491B-AC1E-DDF0773F9F45}"/>
              </a:ext>
            </a:extLst>
          </p:cNvPr>
          <p:cNvSpPr>
            <a:spLocks noGrp="1"/>
          </p:cNvSpPr>
          <p:nvPr/>
        </p:nvSpPr>
        <p:spPr>
          <a:xfrm>
            <a:off x="594360" y="6217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0" i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Ưu tiên giải pháp mở rộng bằng cấu hình hoặc dữ liệu, không phải viết lại mã nguồn.</a:t>
            </a:r>
          </a:p>
        </p:txBody>
      </p:sp>
    </p:spTree>
    <p:extLst>
      <p:ext uri="{BB962C8B-B14F-4D97-AF65-F5344CB8AC3E}">
        <p14:creationId xmlns:p14="http://schemas.microsoft.com/office/powerpoint/2010/main" val="1949911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CF5672-CAF3-4F26-A0D5-C991B8028B1B}"/>
              </a:ext>
            </a:extLst>
          </p:cNvPr>
          <p:cNvSpPr>
            <a:spLocks noGrp="1"/>
          </p:cNvSpPr>
          <p:nvPr/>
        </p:nvSpPr>
        <p:spPr>
          <a:xfrm>
            <a:off x="10817352" y="-822960"/>
            <a:ext cx="2194560" cy="219456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2E11B7-9A09-42A7-AC1A-6F98D9C5253E}"/>
              </a:ext>
            </a:extLst>
          </p:cNvPr>
          <p:cNvSpPr>
            <a:spLocks noGrp="1"/>
          </p:cNvSpPr>
          <p:nvPr/>
        </p:nvSpPr>
        <p:spPr>
          <a:xfrm>
            <a:off x="11503152" y="-365760"/>
            <a:ext cx="1188720" cy="118872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2756A5-02CC-4BE5-9779-78B17C7811F9}"/>
              </a:ext>
            </a:extLst>
          </p:cNvPr>
          <p:cNvSpPr>
            <a:spLocks noGrp="1"/>
          </p:cNvSpPr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MINH HỌA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AEA319-77B5-408D-B665-97B4B51F37CE}"/>
              </a:ext>
            </a:extLst>
          </p:cNvPr>
          <p:cNvSpPr>
            <a:spLocks noGrp="1"/>
          </p:cNvSpPr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Một lượt tư vấn trông như thế nào?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27EB56-8875-407B-82EA-52B0620687C1}"/>
              </a:ext>
            </a:extLst>
          </p:cNvPr>
          <p:cNvSpPr>
            <a:spLocks noGrp="1"/>
          </p:cNvSpPr>
          <p:nvPr/>
        </p:nvSpPr>
        <p:spPr>
          <a:xfrm>
            <a:off x="2148840" y="178308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EFF2F5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E96CC3F-9DAA-4834-8FA3-8433E9813192}"/>
              </a:ext>
            </a:extLst>
          </p:cNvPr>
          <p:cNvSpPr>
            <a:spLocks noGrp="1"/>
          </p:cNvSpPr>
          <p:nvPr/>
        </p:nvSpPr>
        <p:spPr>
          <a:xfrm>
            <a:off x="2377440" y="1856232"/>
            <a:ext cx="53949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Cần điện thoại chụp ảnh đẹp tặng mẹ, tầm 7 triệu thôi.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A37B9A3-B9A4-47BC-9C0F-C66C66AEB871}"/>
              </a:ext>
            </a:extLst>
          </p:cNvPr>
          <p:cNvSpPr>
            <a:spLocks noGrp="1"/>
          </p:cNvSpPr>
          <p:nvPr/>
        </p:nvSpPr>
        <p:spPr>
          <a:xfrm>
            <a:off x="594360" y="2395728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EAF5FB"/>
          </a:solidFill>
          <a:ln w="12700">
            <a:solidFill>
              <a:srgbClr val="BFE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A893C4B-5A93-4C07-8190-EBDB57C24692}"/>
              </a:ext>
            </a:extLst>
          </p:cNvPr>
          <p:cNvSpPr>
            <a:spLocks noGrp="1"/>
          </p:cNvSpPr>
          <p:nvPr/>
        </p:nvSpPr>
        <p:spPr>
          <a:xfrm>
            <a:off x="822960" y="2468880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Mẹ bạn hay chụp chân dung gia đình hay phong cảnh khi đi chơi? Và có cần pin dùng thoải mái cả ngày không ạ?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0861D9-122F-4A5D-909D-B173FB072658}"/>
              </a:ext>
            </a:extLst>
          </p:cNvPr>
          <p:cNvSpPr>
            <a:spLocks noGrp="1"/>
          </p:cNvSpPr>
          <p:nvPr/>
        </p:nvSpPr>
        <p:spPr>
          <a:xfrm>
            <a:off x="2148840" y="3163824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EFF2F5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2820C73-EED1-4640-BA81-9A2B718370AB}"/>
              </a:ext>
            </a:extLst>
          </p:cNvPr>
          <p:cNvSpPr>
            <a:spLocks noGrp="1"/>
          </p:cNvSpPr>
          <p:nvPr/>
        </p:nvSpPr>
        <p:spPr>
          <a:xfrm>
            <a:off x="2377440" y="3236976"/>
            <a:ext cx="5394960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Chụp gia đình là chính, pin càng lâu càng tốt.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BD062D6-44BC-4CAA-874C-E7977BA79CFE}"/>
              </a:ext>
            </a:extLst>
          </p:cNvPr>
          <p:cNvSpPr>
            <a:spLocks noGrp="1"/>
          </p:cNvSpPr>
          <p:nvPr/>
        </p:nvSpPr>
        <p:spPr>
          <a:xfrm>
            <a:off x="594360" y="3776472"/>
            <a:ext cx="5852160" cy="1691640"/>
          </a:xfrm>
          <a:prstGeom prst="roundRect">
            <a:avLst>
              <a:gd name="adj" fmla="val 5405"/>
            </a:avLst>
          </a:prstGeom>
          <a:solidFill>
            <a:srgbClr val="EAF5FB"/>
          </a:solidFill>
          <a:ln w="12700">
            <a:solidFill>
              <a:srgbClr val="BFE0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FD777D-99C6-4CAE-AE19-22831CE4D265}"/>
              </a:ext>
            </a:extLst>
          </p:cNvPr>
          <p:cNvSpPr>
            <a:spLocks noGrp="1"/>
          </p:cNvSpPr>
          <p:nvPr/>
        </p:nvSpPr>
        <p:spPr>
          <a:xfrm>
            <a:off x="822960" y="3849624"/>
            <a:ext cx="5394960" cy="1545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2000"/>
              </a:lnSpc>
              <a:buNone/>
            </a:pPr>
            <a:r>
              <a:rPr sz="12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Vậy có 2 lựa chọn đáng cân nhắc:</a:t>
            </a:r>
          </a:p>
          <a:p>
            <a:pPr marL="0" indent="0">
              <a:lnSpc>
                <a:spcPct val="112000"/>
              </a:lnSpc>
              <a:buNone/>
            </a:pPr>
            <a:r>
              <a:rPr sz="12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•  Máy A — 6,9 triệu (đang giảm 10%): chụp chân dung đẹp hơn rõ rệt, nhưng pin ngắn hơn Máy B khoảng 20%.</a:t>
            </a:r>
          </a:p>
          <a:p>
            <a:pPr marL="0" indent="0">
              <a:lnSpc>
                <a:spcPct val="112000"/>
              </a:lnSpc>
              <a:buNone/>
            </a:pPr>
            <a:r>
              <a:rPr sz="12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•  Máy B — 6,5 triệu: pin dùng gần 2 ngày, đổi lại chụp thiếu sáng kém hơn một chút.</a:t>
            </a:r>
          </a:p>
          <a:p>
            <a:pPr marL="0" indent="0">
              <a:lnSpc>
                <a:spcPct val="112000"/>
              </a:lnSpc>
              <a:buNone/>
            </a:pPr>
            <a:r>
              <a:rPr sz="1200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Cả hai đều bảo hành 12 tháng, đổi trả trong 30 ngày. Nếu mẹ bạn hay quên sạc, mình nghiêng về Máy B.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5D9123-1DE3-4157-8C8C-79310F25F045}"/>
              </a:ext>
            </a:extLst>
          </p:cNvPr>
          <p:cNvSpPr>
            <a:spLocks noGrp="1"/>
          </p:cNvSpPr>
          <p:nvPr/>
        </p:nvSpPr>
        <p:spPr>
          <a:xfrm>
            <a:off x="8275320" y="2560320"/>
            <a:ext cx="320040" cy="0"/>
          </a:xfrm>
          <a:prstGeom prst="line">
            <a:avLst/>
          </a:prstGeom>
          <a:noFill/>
          <a:ln w="19050">
            <a:solidFill>
              <a:srgbClr val="0F9ED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9B3AFF1-1513-424C-BCBB-CE8AE262750D}"/>
              </a:ext>
            </a:extLst>
          </p:cNvPr>
          <p:cNvSpPr>
            <a:spLocks noGrp="1"/>
          </p:cNvSpPr>
          <p:nvPr/>
        </p:nvSpPr>
        <p:spPr>
          <a:xfrm>
            <a:off x="8686800" y="239572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Hỏi bình dị mà "trúng"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3B214F-BAB2-48C7-B1A0-05C411AD1CF8}"/>
              </a:ext>
            </a:extLst>
          </p:cNvPr>
          <p:cNvSpPr>
            <a:spLocks noGrp="1"/>
          </p:cNvSpPr>
          <p:nvPr/>
        </p:nvSpPr>
        <p:spPr>
          <a:xfrm>
            <a:off x="8686800" y="268833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Câu hỏi dễ trả lời, nhưng mỗi câu đều thu hẹp lựa chọn.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06BDF89-7AE7-464F-BB57-2AD7C33F7339}"/>
              </a:ext>
            </a:extLst>
          </p:cNvPr>
          <p:cNvSpPr>
            <a:spLocks noGrp="1"/>
          </p:cNvSpPr>
          <p:nvPr/>
        </p:nvSpPr>
        <p:spPr>
          <a:xfrm>
            <a:off x="8275320" y="3941064"/>
            <a:ext cx="320040" cy="0"/>
          </a:xfrm>
          <a:prstGeom prst="line">
            <a:avLst/>
          </a:prstGeom>
          <a:noFill/>
          <a:ln w="19050">
            <a:solidFill>
              <a:srgbClr val="0F9ED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C828B77-CFB5-4DF6-8375-4F350F4F66D1}"/>
              </a:ext>
            </a:extLst>
          </p:cNvPr>
          <p:cNvSpPr>
            <a:spLocks noGrp="1"/>
          </p:cNvSpPr>
          <p:nvPr/>
        </p:nvSpPr>
        <p:spPr>
          <a:xfrm>
            <a:off x="8686800" y="3776472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Trade-off dễ hiểu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CF8A380-F889-43B0-8163-97590D017329}"/>
              </a:ext>
            </a:extLst>
          </p:cNvPr>
          <p:cNvSpPr>
            <a:spLocks noGrp="1"/>
          </p:cNvSpPr>
          <p:nvPr/>
        </p:nvSpPr>
        <p:spPr>
          <a:xfrm>
            <a:off x="8686800" y="4069080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So sánh bằng lời lẽ đời thường, không thuật ngữ, không bảng thông số.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FBDFC0A-A169-4CE2-A2FA-7CA3DADCD994}"/>
              </a:ext>
            </a:extLst>
          </p:cNvPr>
          <p:cNvSpPr>
            <a:spLocks noGrp="1"/>
          </p:cNvSpPr>
          <p:nvPr/>
        </p:nvSpPr>
        <p:spPr>
          <a:xfrm>
            <a:off x="8275320" y="4873752"/>
            <a:ext cx="320040" cy="0"/>
          </a:xfrm>
          <a:prstGeom prst="line">
            <a:avLst/>
          </a:prstGeom>
          <a:noFill/>
          <a:ln w="19050">
            <a:solidFill>
              <a:srgbClr val="0F9ED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23199FD-6B4E-46CD-AE71-A6468A5CEB21}"/>
              </a:ext>
            </a:extLst>
          </p:cNvPr>
          <p:cNvSpPr>
            <a:spLocks noGrp="1"/>
          </p:cNvSpPr>
          <p:nvPr/>
        </p:nvSpPr>
        <p:spPr>
          <a:xfrm>
            <a:off x="8686800" y="470916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Dữ liệu thật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9A58D1A-EA15-4DA2-9E02-FC3A667DDB17}"/>
              </a:ext>
            </a:extLst>
          </p:cNvPr>
          <p:cNvSpPr>
            <a:spLocks noGrp="1"/>
          </p:cNvSpPr>
          <p:nvPr/>
        </p:nvSpPr>
        <p:spPr>
          <a:xfrm>
            <a:off x="8686800" y="500176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Giá, khuyến mãi, chính sách bảo hành đều có căn cứ.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7EE4C26-E2F9-464E-BB1E-B8042A319593}"/>
              </a:ext>
            </a:extLst>
          </p:cNvPr>
          <p:cNvSpPr>
            <a:spLocks noGrp="1"/>
          </p:cNvSpPr>
          <p:nvPr/>
        </p:nvSpPr>
        <p:spPr>
          <a:xfrm>
            <a:off x="594360" y="6035040"/>
            <a:ext cx="7406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9AA8B3"/>
                </a:solidFill>
                <a:latin typeface="Calibri"/>
                <a:ea typeface="Calibri"/>
                <a:cs typeface="Calibri"/>
              </a:rPr>
              <a:t>Kịch bản minh họa — số liệu chỉ mang tính ví dụ.</a:t>
            </a:r>
          </a:p>
        </p:txBody>
      </p:sp>
    </p:spTree>
    <p:extLst>
      <p:ext uri="{BB962C8B-B14F-4D97-AF65-F5344CB8AC3E}">
        <p14:creationId xmlns:p14="http://schemas.microsoft.com/office/powerpoint/2010/main" val="173916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DF1D2-BF69-478C-8AF6-BDB5A80CDF63}"/>
              </a:ext>
            </a:extLst>
          </p:cNvPr>
          <p:cNvSpPr>
            <a:spLocks noGrp="1"/>
          </p:cNvSpPr>
          <p:nvPr/>
        </p:nvSpPr>
        <p:spPr>
          <a:xfrm>
            <a:off x="9509760" y="3931920"/>
            <a:ext cx="3840480" cy="3840480"/>
          </a:xfrm>
          <a:prstGeom prst="ellipse">
            <a:avLst/>
          </a:prstGeom>
          <a:solidFill>
            <a:srgbClr val="EAF5FB"/>
          </a:solidFill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EEEFA4-A9A9-45DF-B6B8-DB09F6EF59F6}"/>
              </a:ext>
            </a:extLst>
          </p:cNvPr>
          <p:cNvSpPr>
            <a:spLocks noGrp="1"/>
          </p:cNvSpPr>
          <p:nvPr/>
        </p:nvSpPr>
        <p:spPr>
          <a:xfrm>
            <a:off x="10881360" y="2926080"/>
            <a:ext cx="2011680" cy="2011680"/>
          </a:xfrm>
          <a:prstGeom prst="ellipse">
            <a:avLst/>
          </a:prstGeom>
          <a:solidFill>
            <a:srgbClr val="D6EDF8"/>
          </a:solidFill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1F0BBA-2883-4D0F-8F59-BA8EEB38401D}"/>
              </a:ext>
            </a:extLst>
          </p:cNvPr>
          <p:cNvSpPr>
            <a:spLocks noGrp="1"/>
          </p:cNvSpPr>
          <p:nvPr/>
        </p:nvSpPr>
        <p:spPr>
          <a:xfrm>
            <a:off x="10515600" y="4709160"/>
            <a:ext cx="1188720" cy="1188720"/>
          </a:xfrm>
          <a:prstGeom prst="ellipse">
            <a:avLst/>
          </a:prstGeom>
          <a:solidFill>
            <a:srgbClr val="0E2841"/>
          </a:solidFill>
        </p:spPr>
        <p:txBody>
          <a:bodyPr/>
          <a:lstStyle/>
          <a:p>
            <a:endParaRPr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6554" y="5030114"/>
            <a:ext cx="546811" cy="546811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F2B7E67B-C354-491F-97A4-0C356A6728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9ED5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31C0FEA-284F-4A1C-A2E9-3CC9B22270B8}"/>
              </a:ext>
            </a:extLst>
          </p:cNvPr>
          <p:cNvSpPr>
            <a:spLocks noGrp="1"/>
          </p:cNvSpPr>
          <p:nvPr/>
        </p:nvSpPr>
        <p:spPr>
          <a:xfrm>
            <a:off x="777240" y="7772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F9ED5"/>
                </a:solidFill>
                <a:latin typeface="Calibri"/>
                <a:ea typeface="Calibri"/>
                <a:cs typeface="Calibri"/>
              </a:rPr>
              <a:t>TIÊU CHÍ THÀNH CÔNG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88789B8-26F9-4F64-901D-ABE5C7E20139}"/>
              </a:ext>
            </a:extLst>
          </p:cNvPr>
          <p:cNvSpPr>
            <a:spLocks noGrp="1"/>
          </p:cNvSpPr>
          <p:nvPr/>
        </p:nvSpPr>
        <p:spPr>
          <a:xfrm>
            <a:off x="777240" y="114300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Thành công trông như thế nào?</a:t>
            </a:r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84832"/>
            <a:ext cx="310896" cy="31089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9B4AA04D-B583-42A4-8AE7-08C8FE15A3F1}"/>
              </a:ext>
            </a:extLst>
          </p:cNvPr>
          <p:cNvSpPr>
            <a:spLocks noGrp="1"/>
          </p:cNvSpPr>
          <p:nvPr/>
        </p:nvSpPr>
        <p:spPr>
          <a:xfrm>
            <a:off x="1298448" y="2057400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Đề xuất đúng nhu cầu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BE2292D-A5CE-44AE-B893-E31728D4B343}"/>
              </a:ext>
            </a:extLst>
          </p:cNvPr>
          <p:cNvSpPr>
            <a:spLocks noGrp="1"/>
          </p:cNvSpPr>
          <p:nvPr/>
        </p:nvSpPr>
        <p:spPr>
          <a:xfrm>
            <a:off x="1298448" y="237744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Sản phẩm gợi ý khớp với điều khách thật sự cần, không chỉ khớp từ khóa.</a:t>
            </a:r>
          </a:p>
        </p:txBody>
      </p:sp>
      <p:pic>
        <p:nvPicPr>
          <p:cNvPr id="37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17520"/>
            <a:ext cx="310896" cy="31089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25F5A606-F8A5-4CE8-8BA5-6BAA2973C544}"/>
              </a:ext>
            </a:extLst>
          </p:cNvPr>
          <p:cNvSpPr>
            <a:spLocks noGrp="1"/>
          </p:cNvSpPr>
          <p:nvPr/>
        </p:nvSpPr>
        <p:spPr>
          <a:xfrm>
            <a:off x="1298448" y="2990088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Hỏi đúng lúc, đúng chỗ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55494C5-17E2-48BB-918F-1CE54FB7C66B}"/>
              </a:ext>
            </a:extLst>
          </p:cNvPr>
          <p:cNvSpPr>
            <a:spLocks noGrp="1"/>
          </p:cNvSpPr>
          <p:nvPr/>
        </p:nvSpPr>
        <p:spPr>
          <a:xfrm>
            <a:off x="1298448" y="3310128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Chỉ hỏi khi thiếu thông tin quan trọng — hội thoại ngắn gọn, tự nhiên.</a:t>
            </a:r>
          </a:p>
        </p:txBody>
      </p:sp>
      <p:pic>
        <p:nvPicPr>
          <p:cNvPr id="40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50208"/>
            <a:ext cx="310896" cy="310896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7042D399-E366-45E5-8049-9C84D82E2AD7}"/>
              </a:ext>
            </a:extLst>
          </p:cNvPr>
          <p:cNvSpPr>
            <a:spLocks noGrp="1"/>
          </p:cNvSpPr>
          <p:nvPr/>
        </p:nvSpPr>
        <p:spPr>
          <a:xfrm>
            <a:off x="1298448" y="3922776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Không có thông tin bịa đặt</a:t>
            </a: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B96AEB5-1A48-407D-8570-B8207646621F}"/>
              </a:ext>
            </a:extLst>
          </p:cNvPr>
          <p:cNvSpPr>
            <a:spLocks noGrp="1"/>
          </p:cNvSpPr>
          <p:nvPr/>
        </p:nvSpPr>
        <p:spPr>
          <a:xfrm>
            <a:off x="1298448" y="4242816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Mọi con số về giá, khuyến mãi, chính sách đều đối chiếu được với dữ liệu.</a:t>
            </a:r>
          </a:p>
        </p:txBody>
      </p:sp>
      <p:pic>
        <p:nvPicPr>
          <p:cNvPr id="43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82896"/>
            <a:ext cx="310896" cy="310896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39A8FEF2-7898-4AD7-B962-287910F472AE}"/>
              </a:ext>
            </a:extLst>
          </p:cNvPr>
          <p:cNvSpPr>
            <a:spLocks noGrp="1"/>
          </p:cNvSpPr>
          <p:nvPr/>
        </p:nvSpPr>
        <p:spPr>
          <a:xfrm>
            <a:off x="1298448" y="4855464"/>
            <a:ext cx="6949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 b="1">
                <a:solidFill>
                  <a:srgbClr val="0E2841"/>
                </a:solidFill>
                <a:latin typeface="Calibri"/>
                <a:ea typeface="Calibri"/>
                <a:cs typeface="Calibri"/>
              </a:rPr>
              <a:t>Ai đọc cũng hiểu, quyết định nhanh hơn</a:t>
            </a: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2E0AC93-77E1-4FAF-81A0-3992FA47CC75}"/>
              </a:ext>
            </a:extLst>
          </p:cNvPr>
          <p:cNvSpPr>
            <a:spLocks noGrp="1"/>
          </p:cNvSpPr>
          <p:nvPr/>
        </p:nvSpPr>
        <p:spPr>
          <a:xfrm>
            <a:off x="1298448" y="5175504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2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Mọi khách hàng — kể cả người không am hiểu công nghệ — đọc xong đều biết rõ mình nên chọn gì và vì sao.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6F61FF2-C204-4CA8-AE62-94A0928DC746}"/>
              </a:ext>
            </a:extLst>
          </p:cNvPr>
          <p:cNvSpPr>
            <a:spLocks noGrp="1"/>
          </p:cNvSpPr>
          <p:nvPr/>
        </p:nvSpPr>
        <p:spPr>
          <a:xfrm>
            <a:off x="822960" y="5989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56082"/>
                </a:solidFill>
                <a:latin typeface="Calibri"/>
                <a:ea typeface="Calibri"/>
                <a:cs typeface="Calibri"/>
              </a:rPr>
              <a:t>Cảm ơn quý vị đã lắng nghe!   </a:t>
            </a:r>
            <a:r>
              <a:rPr sz="1300">
                <a:solidFill>
                  <a:srgbClr val="5A6B7A"/>
                </a:solidFill>
                <a:latin typeface="Calibri"/>
                <a:ea typeface="Calibri"/>
                <a:cs typeface="Calibri"/>
              </a:rPr>
              <a:t>Phạm Duy Tùng</a:t>
            </a:r>
          </a:p>
        </p:txBody>
      </p:sp>
    </p:spTree>
    <p:extLst>
      <p:ext uri="{BB962C8B-B14F-4D97-AF65-F5344CB8AC3E}">
        <p14:creationId xmlns:p14="http://schemas.microsoft.com/office/powerpoint/2010/main" val="7054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1552</Words>
  <Application>Microsoft Macintosh PowerPoint</Application>
  <DocSecurity>0</DocSecurity>
  <PresentationFormat>Widescreen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Black</cp:lastModifiedBy>
  <cp:revision>1</cp:revision>
  <dcterms:created xsi:type="dcterms:W3CDTF">2026-07-16T14:56:30Z</dcterms:created>
  <dcterms:modified xsi:type="dcterms:W3CDTF">2026-07-16T15:03:02Z</dcterms:modified>
</cp:coreProperties>
</file>